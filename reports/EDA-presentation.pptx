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Hedvig Letters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451951b51a00e099c6946de8298b34505af529d2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80" r="18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80000"/>
                </a:srgbClr>
              </a:gs>
              <a:gs pos="50000">
                <a:srgbClr val="1D1D1F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685800"/>
            <a:ext cx="3009900" cy="342900"/>
          </a:xfrm>
          <a:custGeom>
            <a:avLst/>
            <a:gdLst/>
            <a:ahLst/>
            <a:cxnLst/>
            <a:rect l="l" t="t" r="r" b="b"/>
            <a:pathLst>
              <a:path w="3009900" h="342900">
                <a:moveTo>
                  <a:pt x="171450" y="0"/>
                </a:moveTo>
                <a:lnTo>
                  <a:pt x="2838450" y="0"/>
                </a:lnTo>
                <a:cubicBezTo>
                  <a:pt x="2933076" y="0"/>
                  <a:pt x="3009900" y="76824"/>
                  <a:pt x="3009900" y="171450"/>
                </a:cubicBezTo>
                <a:lnTo>
                  <a:pt x="3009900" y="171450"/>
                </a:lnTo>
                <a:cubicBezTo>
                  <a:pt x="3009900" y="266076"/>
                  <a:pt x="2933076" y="342900"/>
                  <a:pt x="283845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0071E3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762000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573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Online Retail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5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Sales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200400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Insights &amp; Recommendations from 1M+ Transactions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56007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Transactions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829300"/>
            <a:ext cx="1228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1.07M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73287" y="56007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Analyzed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73287" y="5829300"/>
            <a:ext cx="121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£21M+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55156" y="5600700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Countries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55156" y="5829300"/>
            <a:ext cx="714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68086" y="5715000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Period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149036" y="590550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 2009 - Dec 2011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414463"/>
            <a:ext cx="5591175" cy="1038225"/>
          </a:xfrm>
          <a:custGeom>
            <a:avLst/>
            <a:gdLst/>
            <a:ahLst/>
            <a:cxnLst/>
            <a:rect l="l" t="t" r="r" b="b"/>
            <a:pathLst>
              <a:path w="5591175" h="103822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885824"/>
                </a:lnTo>
                <a:cubicBezTo>
                  <a:pt x="5591175" y="969993"/>
                  <a:pt x="5522943" y="1038225"/>
                  <a:pt x="5438774" y="1038225"/>
                </a:cubicBezTo>
                <a:lnTo>
                  <a:pt x="152401" y="1038225"/>
                </a:lnTo>
                <a:cubicBezTo>
                  <a:pt x="68232" y="1038225"/>
                  <a:pt x="0" y="969993"/>
                  <a:pt x="0" y="885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91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28960" y="1724025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8725" y="1647825"/>
            <a:ext cx="3848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8725" y="1990725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structure, quality metrics, and processing workflow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5063" y="1414463"/>
            <a:ext cx="5591175" cy="1038225"/>
          </a:xfrm>
          <a:custGeom>
            <a:avLst/>
            <a:gdLst/>
            <a:ahLst/>
            <a:cxnLst/>
            <a:rect l="l" t="t" r="r" b="b"/>
            <a:pathLst>
              <a:path w="5591175" h="103822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885824"/>
                </a:lnTo>
                <a:cubicBezTo>
                  <a:pt x="5591175" y="969993"/>
                  <a:pt x="5522943" y="1038225"/>
                  <a:pt x="5438774" y="1038225"/>
                </a:cubicBezTo>
                <a:lnTo>
                  <a:pt x="152401" y="1038225"/>
                </a:lnTo>
                <a:cubicBezTo>
                  <a:pt x="68232" y="1038225"/>
                  <a:pt x="0" y="969993"/>
                  <a:pt x="0" y="885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84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37573" y="17240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58025" y="1647825"/>
            <a:ext cx="398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Revenue Performance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8025" y="1990725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 analysis, key metrics, and transaction patterns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2690813"/>
            <a:ext cx="5591175" cy="1038225"/>
          </a:xfrm>
          <a:custGeom>
            <a:avLst/>
            <a:gdLst/>
            <a:ahLst/>
            <a:cxnLst/>
            <a:rect l="l" t="t" r="r" b="b"/>
            <a:pathLst>
              <a:path w="5591175" h="103822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885824"/>
                </a:lnTo>
                <a:cubicBezTo>
                  <a:pt x="5591175" y="969993"/>
                  <a:pt x="5522943" y="1038225"/>
                  <a:pt x="5438774" y="1038225"/>
                </a:cubicBezTo>
                <a:lnTo>
                  <a:pt x="152401" y="1038225"/>
                </a:lnTo>
                <a:cubicBezTo>
                  <a:pt x="68232" y="1038225"/>
                  <a:pt x="0" y="969993"/>
                  <a:pt x="0" y="885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125" y="2924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7231" y="30003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8725" y="2924175"/>
            <a:ext cx="409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Geographic Insights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8725" y="3267075"/>
            <a:ext cx="407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concentration and country-wise revenue distribution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5063" y="2690813"/>
            <a:ext cx="5591175" cy="1038225"/>
          </a:xfrm>
          <a:custGeom>
            <a:avLst/>
            <a:gdLst/>
            <a:ahLst/>
            <a:cxnLst/>
            <a:rect l="l" t="t" r="r" b="b"/>
            <a:pathLst>
              <a:path w="5591175" h="103822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885824"/>
                </a:lnTo>
                <a:cubicBezTo>
                  <a:pt x="5591175" y="969993"/>
                  <a:pt x="5522943" y="1038225"/>
                  <a:pt x="5438774" y="1038225"/>
                </a:cubicBezTo>
                <a:lnTo>
                  <a:pt x="152401" y="1038225"/>
                </a:lnTo>
                <a:cubicBezTo>
                  <a:pt x="68232" y="1038225"/>
                  <a:pt x="0" y="969993"/>
                  <a:pt x="0" y="885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8425" y="2924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36680" y="30003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58025" y="2924175"/>
            <a:ext cx="3114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8025" y="3267075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RFM analysis and value-based customer tiers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3967163"/>
            <a:ext cx="5591175" cy="1038225"/>
          </a:xfrm>
          <a:custGeom>
            <a:avLst/>
            <a:gdLst/>
            <a:ahLst/>
            <a:cxnLst/>
            <a:rect l="l" t="t" r="r" b="b"/>
            <a:pathLst>
              <a:path w="5591175" h="103822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885824"/>
                </a:lnTo>
                <a:cubicBezTo>
                  <a:pt x="5591175" y="969993"/>
                  <a:pt x="5522943" y="1038225"/>
                  <a:pt x="5438774" y="1038225"/>
                </a:cubicBezTo>
                <a:lnTo>
                  <a:pt x="152401" y="1038225"/>
                </a:lnTo>
                <a:cubicBezTo>
                  <a:pt x="68232" y="1038225"/>
                  <a:pt x="0" y="969993"/>
                  <a:pt x="0" y="885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125" y="4200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08868" y="42767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28725" y="4200525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Retention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8725" y="45434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Cohort patterns and customer lifetime value insights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3967163"/>
            <a:ext cx="5591175" cy="1038225"/>
          </a:xfrm>
          <a:custGeom>
            <a:avLst/>
            <a:gdLst/>
            <a:ahLst/>
            <a:cxnLst/>
            <a:rect l="l" t="t" r="r" b="b"/>
            <a:pathLst>
              <a:path w="5591175" h="1038225">
                <a:moveTo>
                  <a:pt x="152401" y="0"/>
                </a:moveTo>
                <a:lnTo>
                  <a:pt x="5438774" y="0"/>
                </a:lnTo>
                <a:cubicBezTo>
                  <a:pt x="5522943" y="0"/>
                  <a:pt x="5591175" y="68232"/>
                  <a:pt x="5591175" y="152401"/>
                </a:cubicBezTo>
                <a:lnTo>
                  <a:pt x="5591175" y="885824"/>
                </a:lnTo>
                <a:cubicBezTo>
                  <a:pt x="5591175" y="969993"/>
                  <a:pt x="5522943" y="1038225"/>
                  <a:pt x="5438774" y="1038225"/>
                </a:cubicBezTo>
                <a:lnTo>
                  <a:pt x="152401" y="1038225"/>
                </a:lnTo>
                <a:cubicBezTo>
                  <a:pt x="68232" y="1038225"/>
                  <a:pt x="0" y="969993"/>
                  <a:pt x="0" y="8858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8425" y="4200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35638" y="427672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8025" y="4200525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58025" y="4543425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strategies for revenue growth and optimization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114296" y="0"/>
                </a:moveTo>
                <a:lnTo>
                  <a:pt x="3590929" y="0"/>
                </a:lnTo>
                <a:cubicBezTo>
                  <a:pt x="3654053" y="0"/>
                  <a:pt x="3705225" y="51172"/>
                  <a:pt x="3705225" y="114296"/>
                </a:cubicBezTo>
                <a:lnTo>
                  <a:pt x="3705225" y="762004"/>
                </a:lnTo>
                <a:cubicBezTo>
                  <a:pt x="3705225" y="825128"/>
                  <a:pt x="3654053" y="876300"/>
                  <a:pt x="35909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263" y="1428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933450" y="12954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Transactions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3450" y="1485900"/>
            <a:ext cx="1200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1,067,371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41750" y="114300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114296" y="0"/>
                </a:moveTo>
                <a:lnTo>
                  <a:pt x="3590929" y="0"/>
                </a:lnTo>
                <a:cubicBezTo>
                  <a:pt x="3654053" y="0"/>
                  <a:pt x="3705225" y="51172"/>
                  <a:pt x="3705225" y="114296"/>
                </a:cubicBezTo>
                <a:lnTo>
                  <a:pt x="3705225" y="762004"/>
                </a:lnTo>
                <a:cubicBezTo>
                  <a:pt x="3705225" y="825128"/>
                  <a:pt x="3654053" y="876300"/>
                  <a:pt x="35909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7013" y="1428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lose/>
                <a:moveTo>
                  <a:pt x="28575" y="71438"/>
                </a:moveTo>
                <a:lnTo>
                  <a:pt x="28575" y="185738"/>
                </a:lnTo>
                <a:lnTo>
                  <a:pt x="85725" y="185738"/>
                </a:lnTo>
                <a:lnTo>
                  <a:pt x="85725" y="71438"/>
                </a:lnTo>
                <a:lnTo>
                  <a:pt x="28575" y="71438"/>
                </a:lnTo>
                <a:close/>
                <a:moveTo>
                  <a:pt x="171450" y="71438"/>
                </a:moveTo>
                <a:lnTo>
                  <a:pt x="114300" y="71438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71438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4794200" y="1295400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94200" y="14859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2501" y="1143000"/>
            <a:ext cx="3705225" cy="876300"/>
          </a:xfrm>
          <a:custGeom>
            <a:avLst/>
            <a:gdLst/>
            <a:ahLst/>
            <a:cxnLst/>
            <a:rect l="l" t="t" r="r" b="b"/>
            <a:pathLst>
              <a:path w="3705225" h="876300">
                <a:moveTo>
                  <a:pt x="114296" y="0"/>
                </a:moveTo>
                <a:lnTo>
                  <a:pt x="3590929" y="0"/>
                </a:lnTo>
                <a:cubicBezTo>
                  <a:pt x="3654053" y="0"/>
                  <a:pt x="3705225" y="51172"/>
                  <a:pt x="3705225" y="114296"/>
                </a:cubicBezTo>
                <a:lnTo>
                  <a:pt x="3705225" y="762004"/>
                </a:lnTo>
                <a:cubicBezTo>
                  <a:pt x="3705225" y="825128"/>
                  <a:pt x="3654053" y="876300"/>
                  <a:pt x="35909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83476" y="1428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4" name="Text 12"/>
          <p:cNvSpPr/>
          <p:nvPr/>
        </p:nvSpPr>
        <p:spPr>
          <a:xfrm>
            <a:off x="8654951" y="12954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Sales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54951" y="1485900"/>
            <a:ext cx="1266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1,041,671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2171700"/>
            <a:ext cx="5638800" cy="4105275"/>
          </a:xfrm>
          <a:custGeom>
            <a:avLst/>
            <a:gdLst/>
            <a:ahLst/>
            <a:cxnLst/>
            <a:rect l="l" t="t" r="r" b="b"/>
            <a:pathLst>
              <a:path w="5638800" h="4105275">
                <a:moveTo>
                  <a:pt x="114291" y="0"/>
                </a:moveTo>
                <a:lnTo>
                  <a:pt x="5524509" y="0"/>
                </a:lnTo>
                <a:cubicBezTo>
                  <a:pt x="5587588" y="0"/>
                  <a:pt x="5638800" y="51212"/>
                  <a:pt x="5638800" y="114291"/>
                </a:cubicBezTo>
                <a:lnTo>
                  <a:pt x="5638800" y="3990984"/>
                </a:lnTo>
                <a:cubicBezTo>
                  <a:pt x="5638800" y="4054105"/>
                  <a:pt x="5587630" y="4105275"/>
                  <a:pt x="5524509" y="4105275"/>
                </a:cubicBezTo>
                <a:lnTo>
                  <a:pt x="114291" y="4105275"/>
                </a:lnTo>
                <a:cubicBezTo>
                  <a:pt x="51170" y="4105275"/>
                  <a:pt x="0" y="4054105"/>
                  <a:pt x="0" y="39909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1500" y="236220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Structure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3090863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" y="2800350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79194" y="28194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ID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" y="3519488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" y="3228975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StockCode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0717" y="324802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Code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3948112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" y="365760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5147" y="367665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Name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" y="4376738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" y="4086225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28630" y="4105275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Units Sold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1500" y="4805363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451485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InvoiceDate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29026" y="45339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Date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1500" y="5233988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" y="4943475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49887" y="4962525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Price (£)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1500" y="5662613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" y="53721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ID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93146" y="539115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Identifier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1500" y="5800725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Country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74270" y="5819775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Location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0" y="2171700"/>
            <a:ext cx="5638800" cy="4105275"/>
          </a:xfrm>
          <a:custGeom>
            <a:avLst/>
            <a:gdLst/>
            <a:ahLst/>
            <a:cxnLst/>
            <a:rect l="l" t="t" r="r" b="b"/>
            <a:pathLst>
              <a:path w="5638800" h="4105275">
                <a:moveTo>
                  <a:pt x="114291" y="0"/>
                </a:moveTo>
                <a:lnTo>
                  <a:pt x="5524509" y="0"/>
                </a:lnTo>
                <a:cubicBezTo>
                  <a:pt x="5587588" y="0"/>
                  <a:pt x="5638800" y="51212"/>
                  <a:pt x="5638800" y="114291"/>
                </a:cubicBezTo>
                <a:lnTo>
                  <a:pt x="5638800" y="3990984"/>
                </a:lnTo>
                <a:cubicBezTo>
                  <a:pt x="5638800" y="4054105"/>
                  <a:pt x="5587630" y="4105275"/>
                  <a:pt x="5524509" y="4105275"/>
                </a:cubicBezTo>
                <a:lnTo>
                  <a:pt x="114291" y="4105275"/>
                </a:lnTo>
                <a:cubicBezTo>
                  <a:pt x="51170" y="4105275"/>
                  <a:pt x="0" y="4054105"/>
                  <a:pt x="0" y="39909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62700" y="236220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Quality Assessment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62700" y="274320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ID Missing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470505" y="274320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243,007 (22.8%)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2700" y="3009900"/>
            <a:ext cx="5257800" cy="76200"/>
          </a:xfrm>
          <a:custGeom>
            <a:avLst/>
            <a:gdLst/>
            <a:ahLst/>
            <a:cxnLst/>
            <a:rect l="l" t="t" r="r" b="b"/>
            <a:pathLst>
              <a:path w="5257800" h="76200">
                <a:moveTo>
                  <a:pt x="38100" y="0"/>
                </a:moveTo>
                <a:lnTo>
                  <a:pt x="5219700" y="0"/>
                </a:lnTo>
                <a:cubicBezTo>
                  <a:pt x="5240728" y="0"/>
                  <a:pt x="5257800" y="17072"/>
                  <a:pt x="5257800" y="38100"/>
                </a:cubicBezTo>
                <a:lnTo>
                  <a:pt x="5257800" y="38100"/>
                </a:lnTo>
                <a:cubicBezTo>
                  <a:pt x="5257800" y="59128"/>
                  <a:pt x="5240728" y="76200"/>
                  <a:pt x="5219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6" name="Shape 44"/>
          <p:cNvSpPr/>
          <p:nvPr/>
        </p:nvSpPr>
        <p:spPr>
          <a:xfrm>
            <a:off x="6362700" y="3009900"/>
            <a:ext cx="1200150" cy="76200"/>
          </a:xfrm>
          <a:custGeom>
            <a:avLst/>
            <a:gdLst/>
            <a:ahLst/>
            <a:cxnLst/>
            <a:rect l="l" t="t" r="r" b="b"/>
            <a:pathLst>
              <a:path w="1200150" h="76200">
                <a:moveTo>
                  <a:pt x="38100" y="0"/>
                </a:moveTo>
                <a:lnTo>
                  <a:pt x="1162050" y="0"/>
                </a:lnTo>
                <a:cubicBezTo>
                  <a:pt x="1183078" y="0"/>
                  <a:pt x="1200150" y="17072"/>
                  <a:pt x="1200150" y="38100"/>
                </a:cubicBezTo>
                <a:lnTo>
                  <a:pt x="1200150" y="38100"/>
                </a:lnTo>
                <a:cubicBezTo>
                  <a:pt x="1200150" y="59128"/>
                  <a:pt x="1183078" y="76200"/>
                  <a:pt x="11620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7" name="Text 45"/>
          <p:cNvSpPr/>
          <p:nvPr/>
        </p:nvSpPr>
        <p:spPr>
          <a:xfrm>
            <a:off x="6362700" y="312420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Impacts customer-level analysis; filtered for segmentation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62700" y="342900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 Missing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733187" y="342900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4,382 (0.4%)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62700" y="3695700"/>
            <a:ext cx="5257800" cy="76200"/>
          </a:xfrm>
          <a:custGeom>
            <a:avLst/>
            <a:gdLst/>
            <a:ahLst/>
            <a:cxnLst/>
            <a:rect l="l" t="t" r="r" b="b"/>
            <a:pathLst>
              <a:path w="5257800" h="76200">
                <a:moveTo>
                  <a:pt x="38100" y="0"/>
                </a:moveTo>
                <a:lnTo>
                  <a:pt x="5219700" y="0"/>
                </a:lnTo>
                <a:cubicBezTo>
                  <a:pt x="5240728" y="0"/>
                  <a:pt x="5257800" y="17072"/>
                  <a:pt x="5257800" y="38100"/>
                </a:cubicBezTo>
                <a:lnTo>
                  <a:pt x="5257800" y="38100"/>
                </a:lnTo>
                <a:cubicBezTo>
                  <a:pt x="5257800" y="59128"/>
                  <a:pt x="5240728" y="76200"/>
                  <a:pt x="5219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1" name="Shape 49"/>
          <p:cNvSpPr/>
          <p:nvPr/>
        </p:nvSpPr>
        <p:spPr>
          <a:xfrm>
            <a:off x="6362700" y="3695700"/>
            <a:ext cx="19050" cy="76200"/>
          </a:xfrm>
          <a:custGeom>
            <a:avLst/>
            <a:gdLst/>
            <a:ahLst/>
            <a:cxnLst/>
            <a:rect l="l" t="t" r="r" b="b"/>
            <a:pathLst>
              <a:path w="19050" h="76200">
                <a:moveTo>
                  <a:pt x="9525" y="0"/>
                </a:moveTo>
                <a:lnTo>
                  <a:pt x="9525" y="0"/>
                </a:lnTo>
                <a:cubicBezTo>
                  <a:pt x="14782" y="0"/>
                  <a:pt x="19050" y="4268"/>
                  <a:pt x="19050" y="9525"/>
                </a:cubicBezTo>
                <a:lnTo>
                  <a:pt x="19050" y="66675"/>
                </a:lnTo>
                <a:cubicBezTo>
                  <a:pt x="19050" y="71932"/>
                  <a:pt x="14782" y="76200"/>
                  <a:pt x="9525" y="76200"/>
                </a:cubicBezTo>
                <a:lnTo>
                  <a:pt x="9525" y="76200"/>
                </a:lnTo>
                <a:cubicBezTo>
                  <a:pt x="4268" y="76200"/>
                  <a:pt x="0" y="71932"/>
                  <a:pt x="0" y="66675"/>
                </a:cubicBezTo>
                <a:lnTo>
                  <a:pt x="0" y="9525"/>
                </a:lnTo>
                <a:cubicBezTo>
                  <a:pt x="0" y="4268"/>
                  <a:pt x="4268" y="0"/>
                  <a:pt x="9525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2" name="Text 50"/>
          <p:cNvSpPr/>
          <p:nvPr/>
        </p:nvSpPr>
        <p:spPr>
          <a:xfrm>
            <a:off x="6362700" y="3810000"/>
            <a:ext cx="532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Minimal impact; retained for revenue calculations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62700" y="4119562"/>
            <a:ext cx="5257800" cy="9525"/>
          </a:xfrm>
          <a:custGeom>
            <a:avLst/>
            <a:gdLst/>
            <a:ahLst/>
            <a:cxnLst/>
            <a:rect l="l" t="t" r="r" b="b"/>
            <a:pathLst>
              <a:path w="5257800" h="9525">
                <a:moveTo>
                  <a:pt x="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4" name="Text 52"/>
          <p:cNvSpPr/>
          <p:nvPr/>
        </p:nvSpPr>
        <p:spPr>
          <a:xfrm>
            <a:off x="6362700" y="4238625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Workflow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62700" y="46005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6" name="Text 54"/>
          <p:cNvSpPr/>
          <p:nvPr/>
        </p:nvSpPr>
        <p:spPr>
          <a:xfrm>
            <a:off x="6515100" y="4543425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Converted InvoiceDate to datetime format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2700" y="48482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8" name="Text 56"/>
          <p:cNvSpPr/>
          <p:nvPr/>
        </p:nvSpPr>
        <p:spPr>
          <a:xfrm>
            <a:off x="6515100" y="479107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Filtered positive Quantity &amp; Price for sales analysis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62700" y="50958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0" name="Text 58"/>
          <p:cNvSpPr/>
          <p:nvPr/>
        </p:nvSpPr>
        <p:spPr>
          <a:xfrm>
            <a:off x="6515100" y="5038725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Created Revenue = Quantity × Price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62700" y="53435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2" name="Text 60"/>
          <p:cNvSpPr/>
          <p:nvPr/>
        </p:nvSpPr>
        <p:spPr>
          <a:xfrm>
            <a:off x="6515100" y="5286375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Extracted time features (Month, Quarter, DayOfWeek)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86" y="334486"/>
            <a:ext cx="11581564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2" b="1" spc="46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486" y="535177"/>
            <a:ext cx="11673547" cy="334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7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Revenue Distribution &amp; Key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4486" y="1003457"/>
            <a:ext cx="2776230" cy="769317"/>
          </a:xfrm>
          <a:custGeom>
            <a:avLst/>
            <a:gdLst/>
            <a:ahLst/>
            <a:cxnLst/>
            <a:rect l="l" t="t" r="r" b="b"/>
            <a:pathLst>
              <a:path w="2776230" h="769317">
                <a:moveTo>
                  <a:pt x="100342" y="0"/>
                </a:moveTo>
                <a:lnTo>
                  <a:pt x="2675888" y="0"/>
                </a:lnTo>
                <a:cubicBezTo>
                  <a:pt x="2731306" y="0"/>
                  <a:pt x="2776230" y="44925"/>
                  <a:pt x="2776230" y="100342"/>
                </a:cubicBezTo>
                <a:lnTo>
                  <a:pt x="2776230" y="668975"/>
                </a:lnTo>
                <a:cubicBezTo>
                  <a:pt x="2776230" y="724392"/>
                  <a:pt x="2731306" y="769317"/>
                  <a:pt x="2675888" y="769317"/>
                </a:cubicBezTo>
                <a:lnTo>
                  <a:pt x="100342" y="769317"/>
                </a:lnTo>
                <a:cubicBezTo>
                  <a:pt x="44925" y="769317"/>
                  <a:pt x="0" y="724392"/>
                  <a:pt x="0" y="668975"/>
                </a:cubicBezTo>
                <a:lnTo>
                  <a:pt x="0" y="100342"/>
                </a:lnTo>
                <a:cubicBezTo>
                  <a:pt x="0" y="44962"/>
                  <a:pt x="44962" y="0"/>
                  <a:pt x="1003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086" dist="8362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9012" y="1137251"/>
            <a:ext cx="256717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Revenue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5564" y="1337942"/>
            <a:ext cx="2634074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£20.13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48169" y="1003457"/>
            <a:ext cx="2776230" cy="769317"/>
          </a:xfrm>
          <a:custGeom>
            <a:avLst/>
            <a:gdLst/>
            <a:ahLst/>
            <a:cxnLst/>
            <a:rect l="l" t="t" r="r" b="b"/>
            <a:pathLst>
              <a:path w="2776230" h="769317">
                <a:moveTo>
                  <a:pt x="100342" y="0"/>
                </a:moveTo>
                <a:lnTo>
                  <a:pt x="2675888" y="0"/>
                </a:lnTo>
                <a:cubicBezTo>
                  <a:pt x="2731306" y="0"/>
                  <a:pt x="2776230" y="44925"/>
                  <a:pt x="2776230" y="100342"/>
                </a:cubicBezTo>
                <a:lnTo>
                  <a:pt x="2776230" y="668975"/>
                </a:lnTo>
                <a:cubicBezTo>
                  <a:pt x="2776230" y="724392"/>
                  <a:pt x="2731306" y="769317"/>
                  <a:pt x="2675888" y="769317"/>
                </a:cubicBezTo>
                <a:lnTo>
                  <a:pt x="100342" y="769317"/>
                </a:lnTo>
                <a:cubicBezTo>
                  <a:pt x="44925" y="769317"/>
                  <a:pt x="0" y="724392"/>
                  <a:pt x="0" y="668975"/>
                </a:cubicBezTo>
                <a:lnTo>
                  <a:pt x="0" y="100342"/>
                </a:lnTo>
                <a:cubicBezTo>
                  <a:pt x="0" y="44962"/>
                  <a:pt x="44962" y="0"/>
                  <a:pt x="1003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086" dist="8362" dir="540000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2695" y="1137251"/>
            <a:ext cx="256717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Revenue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19247" y="1337942"/>
            <a:ext cx="2634074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£9.96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61852" y="1003457"/>
            <a:ext cx="2776230" cy="769317"/>
          </a:xfrm>
          <a:custGeom>
            <a:avLst/>
            <a:gdLst/>
            <a:ahLst/>
            <a:cxnLst/>
            <a:rect l="l" t="t" r="r" b="b"/>
            <a:pathLst>
              <a:path w="2776230" h="769317">
                <a:moveTo>
                  <a:pt x="100342" y="0"/>
                </a:moveTo>
                <a:lnTo>
                  <a:pt x="2675888" y="0"/>
                </a:lnTo>
                <a:cubicBezTo>
                  <a:pt x="2731306" y="0"/>
                  <a:pt x="2776230" y="44925"/>
                  <a:pt x="2776230" y="100342"/>
                </a:cubicBezTo>
                <a:lnTo>
                  <a:pt x="2776230" y="668975"/>
                </a:lnTo>
                <a:cubicBezTo>
                  <a:pt x="2776230" y="724392"/>
                  <a:pt x="2731306" y="769317"/>
                  <a:pt x="2675888" y="769317"/>
                </a:cubicBezTo>
                <a:lnTo>
                  <a:pt x="100342" y="769317"/>
                </a:lnTo>
                <a:cubicBezTo>
                  <a:pt x="44925" y="769317"/>
                  <a:pt x="0" y="724392"/>
                  <a:pt x="0" y="668975"/>
                </a:cubicBezTo>
                <a:lnTo>
                  <a:pt x="0" y="100342"/>
                </a:lnTo>
                <a:cubicBezTo>
                  <a:pt x="0" y="44962"/>
                  <a:pt x="44962" y="0"/>
                  <a:pt x="1003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086" dist="8362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6379" y="1137251"/>
            <a:ext cx="256717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Revenue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32930" y="1337942"/>
            <a:ext cx="2634074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£168K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75535" y="1003457"/>
            <a:ext cx="2776230" cy="769317"/>
          </a:xfrm>
          <a:custGeom>
            <a:avLst/>
            <a:gdLst/>
            <a:ahLst/>
            <a:cxnLst/>
            <a:rect l="l" t="t" r="r" b="b"/>
            <a:pathLst>
              <a:path w="2776230" h="769317">
                <a:moveTo>
                  <a:pt x="100342" y="0"/>
                </a:moveTo>
                <a:lnTo>
                  <a:pt x="2675888" y="0"/>
                </a:lnTo>
                <a:cubicBezTo>
                  <a:pt x="2731306" y="0"/>
                  <a:pt x="2776230" y="44925"/>
                  <a:pt x="2776230" y="100342"/>
                </a:cubicBezTo>
                <a:lnTo>
                  <a:pt x="2776230" y="668975"/>
                </a:lnTo>
                <a:cubicBezTo>
                  <a:pt x="2776230" y="724392"/>
                  <a:pt x="2731306" y="769317"/>
                  <a:pt x="2675888" y="769317"/>
                </a:cubicBezTo>
                <a:lnTo>
                  <a:pt x="100342" y="769317"/>
                </a:lnTo>
                <a:cubicBezTo>
                  <a:pt x="44925" y="769317"/>
                  <a:pt x="0" y="724392"/>
                  <a:pt x="0" y="668975"/>
                </a:cubicBezTo>
                <a:lnTo>
                  <a:pt x="0" y="100342"/>
                </a:lnTo>
                <a:cubicBezTo>
                  <a:pt x="0" y="44962"/>
                  <a:pt x="44962" y="0"/>
                  <a:pt x="1003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086" dist="8362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0062" y="1137251"/>
            <a:ext cx="2567177" cy="16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2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Std Deviation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6613" y="1337942"/>
            <a:ext cx="2634074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£203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4486" y="1906568"/>
            <a:ext cx="5694617" cy="3344856"/>
          </a:xfrm>
          <a:custGeom>
            <a:avLst/>
            <a:gdLst/>
            <a:ahLst/>
            <a:cxnLst/>
            <a:rect l="l" t="t" r="r" b="b"/>
            <a:pathLst>
              <a:path w="5694617" h="3344856">
                <a:moveTo>
                  <a:pt x="100346" y="0"/>
                </a:moveTo>
                <a:lnTo>
                  <a:pt x="5594272" y="0"/>
                </a:lnTo>
                <a:cubicBezTo>
                  <a:pt x="5649691" y="0"/>
                  <a:pt x="5694617" y="44926"/>
                  <a:pt x="5694617" y="100346"/>
                </a:cubicBezTo>
                <a:lnTo>
                  <a:pt x="5694617" y="3244510"/>
                </a:lnTo>
                <a:cubicBezTo>
                  <a:pt x="5694617" y="3299930"/>
                  <a:pt x="5649691" y="3344856"/>
                  <a:pt x="5594272" y="3344856"/>
                </a:cubicBezTo>
                <a:lnTo>
                  <a:pt x="100346" y="3344856"/>
                </a:lnTo>
                <a:cubicBezTo>
                  <a:pt x="44926" y="3344856"/>
                  <a:pt x="0" y="3299930"/>
                  <a:pt x="0" y="3244510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086" dist="8362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728" y="2073811"/>
            <a:ext cx="544375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Revenue Distribution (99th Percentile)</a:t>
            </a:r>
            <a:endParaRPr lang="en-US" sz="1600" dirty="0"/>
          </a:p>
        </p:txBody>
      </p:sp>
      <p:pic>
        <p:nvPicPr>
          <p:cNvPr id="18" name="Image 0" descr="https://kimi-img.moonshot.cn/pub/slides/26-03-01-16:07:40-d6hv7j6mu6s4pkoqfqs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1728" y="2408296"/>
            <a:ext cx="4615901" cy="2675885"/>
          </a:xfrm>
          <a:prstGeom prst="roundRect">
            <a:avLst>
              <a:gd name="adj" fmla="val 0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6161852" y="1906568"/>
            <a:ext cx="5694617" cy="3344856"/>
          </a:xfrm>
          <a:custGeom>
            <a:avLst/>
            <a:gdLst/>
            <a:ahLst/>
            <a:cxnLst/>
            <a:rect l="l" t="t" r="r" b="b"/>
            <a:pathLst>
              <a:path w="5694617" h="3344856">
                <a:moveTo>
                  <a:pt x="100346" y="0"/>
                </a:moveTo>
                <a:lnTo>
                  <a:pt x="5594272" y="0"/>
                </a:lnTo>
                <a:cubicBezTo>
                  <a:pt x="5649691" y="0"/>
                  <a:pt x="5694617" y="44926"/>
                  <a:pt x="5694617" y="100346"/>
                </a:cubicBezTo>
                <a:lnTo>
                  <a:pt x="5694617" y="3244510"/>
                </a:lnTo>
                <a:cubicBezTo>
                  <a:pt x="5694617" y="3299930"/>
                  <a:pt x="5649691" y="3344856"/>
                  <a:pt x="5594272" y="3344856"/>
                </a:cubicBezTo>
                <a:lnTo>
                  <a:pt x="100346" y="3344856"/>
                </a:lnTo>
                <a:cubicBezTo>
                  <a:pt x="44926" y="3344856"/>
                  <a:pt x="0" y="3299930"/>
                  <a:pt x="0" y="3244510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086" dist="8362" dir="540000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29095" y="2073811"/>
            <a:ext cx="5443753" cy="234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Quantity Distribution</a:t>
            </a:r>
            <a:endParaRPr lang="en-US" sz="1600" dirty="0"/>
          </a:p>
        </p:txBody>
      </p:sp>
      <p:pic>
        <p:nvPicPr>
          <p:cNvPr id="21" name="Image 1" descr="https://kimi-img.moonshot.cn/pub/slides/26-03-01-16:07:40-d6hv7j0u8ld92f3mf4s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9095" y="2408296"/>
            <a:ext cx="4615901" cy="2675885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18"/>
          <p:cNvSpPr/>
          <p:nvPr/>
        </p:nvSpPr>
        <p:spPr>
          <a:xfrm>
            <a:off x="334486" y="5385218"/>
            <a:ext cx="11523029" cy="1137251"/>
          </a:xfrm>
          <a:custGeom>
            <a:avLst/>
            <a:gdLst/>
            <a:ahLst/>
            <a:cxnLst/>
            <a:rect l="l" t="t" r="r" b="b"/>
            <a:pathLst>
              <a:path w="11523029" h="1137251">
                <a:moveTo>
                  <a:pt x="100351" y="0"/>
                </a:moveTo>
                <a:lnTo>
                  <a:pt x="11422678" y="0"/>
                </a:lnTo>
                <a:cubicBezTo>
                  <a:pt x="11478100" y="0"/>
                  <a:pt x="11523029" y="44929"/>
                  <a:pt x="11523029" y="100351"/>
                </a:cubicBezTo>
                <a:lnTo>
                  <a:pt x="11523029" y="1036900"/>
                </a:lnTo>
                <a:cubicBezTo>
                  <a:pt x="11523029" y="1092322"/>
                  <a:pt x="11478100" y="1137251"/>
                  <a:pt x="11422678" y="1137251"/>
                </a:cubicBezTo>
                <a:lnTo>
                  <a:pt x="100351" y="1137251"/>
                </a:lnTo>
                <a:cubicBezTo>
                  <a:pt x="44929" y="1137251"/>
                  <a:pt x="0" y="1092322"/>
                  <a:pt x="0" y="1036900"/>
                </a:cubicBezTo>
                <a:lnTo>
                  <a:pt x="0" y="100351"/>
                </a:lnTo>
                <a:cubicBezTo>
                  <a:pt x="0" y="44966"/>
                  <a:pt x="44966" y="0"/>
                  <a:pt x="1003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086" dist="8362" dir="5400000">
              <a:srgbClr val="000000">
                <a:alpha val="10196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2461" y="5552461"/>
            <a:ext cx="150519" cy="200691"/>
          </a:xfrm>
          <a:custGeom>
            <a:avLst/>
            <a:gdLst/>
            <a:ahLst/>
            <a:cxnLst/>
            <a:rect l="l" t="t" r="r" b="b"/>
            <a:pathLst>
              <a:path w="150519" h="200691">
                <a:moveTo>
                  <a:pt x="114810" y="150519"/>
                </a:moveTo>
                <a:cubicBezTo>
                  <a:pt x="117671" y="141777"/>
                  <a:pt x="123394" y="133860"/>
                  <a:pt x="129861" y="127039"/>
                </a:cubicBezTo>
                <a:cubicBezTo>
                  <a:pt x="142679" y="113555"/>
                  <a:pt x="150519" y="95328"/>
                  <a:pt x="150519" y="75259"/>
                </a:cubicBezTo>
                <a:cubicBezTo>
                  <a:pt x="150519" y="33710"/>
                  <a:pt x="116809" y="0"/>
                  <a:pt x="75259" y="0"/>
                </a:cubicBezTo>
                <a:cubicBezTo>
                  <a:pt x="33710" y="0"/>
                  <a:pt x="0" y="33710"/>
                  <a:pt x="0" y="75259"/>
                </a:cubicBezTo>
                <a:cubicBezTo>
                  <a:pt x="0" y="95328"/>
                  <a:pt x="7840" y="113555"/>
                  <a:pt x="20657" y="127039"/>
                </a:cubicBezTo>
                <a:cubicBezTo>
                  <a:pt x="27125" y="133860"/>
                  <a:pt x="32887" y="141777"/>
                  <a:pt x="35709" y="150519"/>
                </a:cubicBezTo>
                <a:lnTo>
                  <a:pt x="114770" y="150519"/>
                </a:lnTo>
                <a:close/>
                <a:moveTo>
                  <a:pt x="112889" y="169333"/>
                </a:moveTo>
                <a:lnTo>
                  <a:pt x="37630" y="169333"/>
                </a:lnTo>
                <a:lnTo>
                  <a:pt x="37630" y="175605"/>
                </a:lnTo>
                <a:cubicBezTo>
                  <a:pt x="37630" y="192930"/>
                  <a:pt x="51662" y="206963"/>
                  <a:pt x="68988" y="206963"/>
                </a:cubicBezTo>
                <a:lnTo>
                  <a:pt x="81531" y="206963"/>
                </a:lnTo>
                <a:cubicBezTo>
                  <a:pt x="98856" y="206963"/>
                  <a:pt x="112889" y="192930"/>
                  <a:pt x="112889" y="175605"/>
                </a:cubicBezTo>
                <a:lnTo>
                  <a:pt x="112889" y="169333"/>
                </a:lnTo>
                <a:close/>
                <a:moveTo>
                  <a:pt x="72123" y="43901"/>
                </a:moveTo>
                <a:cubicBezTo>
                  <a:pt x="56523" y="43901"/>
                  <a:pt x="43901" y="56523"/>
                  <a:pt x="43901" y="72123"/>
                </a:cubicBezTo>
                <a:cubicBezTo>
                  <a:pt x="43901" y="77337"/>
                  <a:pt x="39707" y="81531"/>
                  <a:pt x="34494" y="81531"/>
                </a:cubicBezTo>
                <a:cubicBezTo>
                  <a:pt x="29281" y="81531"/>
                  <a:pt x="25086" y="77337"/>
                  <a:pt x="25086" y="72123"/>
                </a:cubicBezTo>
                <a:cubicBezTo>
                  <a:pt x="25086" y="46135"/>
                  <a:pt x="46135" y="25086"/>
                  <a:pt x="72123" y="25086"/>
                </a:cubicBezTo>
                <a:cubicBezTo>
                  <a:pt x="77337" y="25086"/>
                  <a:pt x="81531" y="29281"/>
                  <a:pt x="81531" y="34494"/>
                </a:cubicBezTo>
                <a:cubicBezTo>
                  <a:pt x="81531" y="39707"/>
                  <a:pt x="77337" y="43901"/>
                  <a:pt x="72123" y="4390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0"/>
          <p:cNvSpPr/>
          <p:nvPr/>
        </p:nvSpPr>
        <p:spPr>
          <a:xfrm>
            <a:off x="758211" y="5519012"/>
            <a:ext cx="1102966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 Right-Skewed Distribution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58211" y="5786601"/>
            <a:ext cx="11029663" cy="60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revenue distribution exhibits a highly right-skewed pattern typical of retail data, with most transactions clustered at lower values and a long tail of high-value orders. The significant gap between mean (£20.13) and median (£9.96) indicates the presence of high-value outliers. Outlier treatment using the 99th percentile threshold preserves data integrity while enabling clearer visualization of the core transaction distribution.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spc="48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556951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Geographic Revenue Distribution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094" y="1044283"/>
            <a:ext cx="3742013" cy="1079092"/>
          </a:xfrm>
          <a:custGeom>
            <a:avLst/>
            <a:gdLst/>
            <a:ahLst/>
            <a:cxnLst/>
            <a:rect l="l" t="t" r="r" b="b"/>
            <a:pathLst>
              <a:path w="3742013" h="1079092">
                <a:moveTo>
                  <a:pt x="104424" y="0"/>
                </a:moveTo>
                <a:lnTo>
                  <a:pt x="3637589" y="0"/>
                </a:lnTo>
                <a:cubicBezTo>
                  <a:pt x="3695261" y="0"/>
                  <a:pt x="3742013" y="46752"/>
                  <a:pt x="3742013" y="104424"/>
                </a:cubicBezTo>
                <a:lnTo>
                  <a:pt x="3742013" y="974668"/>
                </a:lnTo>
                <a:cubicBezTo>
                  <a:pt x="3742013" y="1032340"/>
                  <a:pt x="3695261" y="1079092"/>
                  <a:pt x="3637589" y="1079092"/>
                </a:cubicBezTo>
                <a:lnTo>
                  <a:pt x="104424" y="1079092"/>
                </a:lnTo>
                <a:cubicBezTo>
                  <a:pt x="46752" y="1079092"/>
                  <a:pt x="0" y="1032340"/>
                  <a:pt x="0" y="974668"/>
                </a:cubicBezTo>
                <a:lnTo>
                  <a:pt x="0" y="104424"/>
                </a:lnTo>
                <a:cubicBezTo>
                  <a:pt x="0" y="46752"/>
                  <a:pt x="46752" y="0"/>
                  <a:pt x="1044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107" dist="8702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7332" y="1183520"/>
            <a:ext cx="96596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UK Market Share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0925" y="1183520"/>
            <a:ext cx="195803" cy="174047"/>
          </a:xfrm>
          <a:custGeom>
            <a:avLst/>
            <a:gdLst/>
            <a:ahLst/>
            <a:cxnLst/>
            <a:rect l="l" t="t" r="r" b="b"/>
            <a:pathLst>
              <a:path w="195803" h="174047">
                <a:moveTo>
                  <a:pt x="106400" y="29642"/>
                </a:moveTo>
                <a:cubicBezTo>
                  <a:pt x="109527" y="27161"/>
                  <a:pt x="111499" y="23320"/>
                  <a:pt x="111499" y="19036"/>
                </a:cubicBezTo>
                <a:cubicBezTo>
                  <a:pt x="111499" y="11524"/>
                  <a:pt x="105414" y="5439"/>
                  <a:pt x="97901" y="5439"/>
                </a:cubicBezTo>
                <a:cubicBezTo>
                  <a:pt x="90389" y="5439"/>
                  <a:pt x="84304" y="11524"/>
                  <a:pt x="84304" y="19036"/>
                </a:cubicBezTo>
                <a:cubicBezTo>
                  <a:pt x="84304" y="23320"/>
                  <a:pt x="86310" y="27161"/>
                  <a:pt x="89403" y="29642"/>
                </a:cubicBezTo>
                <a:lnTo>
                  <a:pt x="66151" y="66219"/>
                </a:lnTo>
                <a:cubicBezTo>
                  <a:pt x="62752" y="71556"/>
                  <a:pt x="55512" y="72882"/>
                  <a:pt x="50446" y="69075"/>
                </a:cubicBezTo>
                <a:lnTo>
                  <a:pt x="30220" y="53948"/>
                </a:lnTo>
                <a:cubicBezTo>
                  <a:pt x="31750" y="51772"/>
                  <a:pt x="32634" y="49087"/>
                  <a:pt x="32634" y="46231"/>
                </a:cubicBezTo>
                <a:cubicBezTo>
                  <a:pt x="32634" y="38719"/>
                  <a:pt x="26549" y="32634"/>
                  <a:pt x="19036" y="32634"/>
                </a:cubicBezTo>
                <a:cubicBezTo>
                  <a:pt x="11524" y="32634"/>
                  <a:pt x="5439" y="38719"/>
                  <a:pt x="5439" y="46231"/>
                </a:cubicBezTo>
                <a:cubicBezTo>
                  <a:pt x="5439" y="53642"/>
                  <a:pt x="11388" y="59693"/>
                  <a:pt x="18764" y="59829"/>
                </a:cubicBezTo>
                <a:lnTo>
                  <a:pt x="29846" y="133765"/>
                </a:lnTo>
                <a:cubicBezTo>
                  <a:pt x="31444" y="144405"/>
                  <a:pt x="40588" y="152291"/>
                  <a:pt x="51364" y="152291"/>
                </a:cubicBezTo>
                <a:lnTo>
                  <a:pt x="144439" y="152291"/>
                </a:lnTo>
                <a:cubicBezTo>
                  <a:pt x="155215" y="152291"/>
                  <a:pt x="164359" y="144405"/>
                  <a:pt x="165957" y="133765"/>
                </a:cubicBezTo>
                <a:lnTo>
                  <a:pt x="177039" y="59829"/>
                </a:lnTo>
                <a:cubicBezTo>
                  <a:pt x="184415" y="59693"/>
                  <a:pt x="190364" y="53642"/>
                  <a:pt x="190364" y="46231"/>
                </a:cubicBezTo>
                <a:cubicBezTo>
                  <a:pt x="190364" y="38719"/>
                  <a:pt x="184279" y="32634"/>
                  <a:pt x="176767" y="32634"/>
                </a:cubicBezTo>
                <a:cubicBezTo>
                  <a:pt x="169254" y="32634"/>
                  <a:pt x="163169" y="38719"/>
                  <a:pt x="163169" y="46231"/>
                </a:cubicBezTo>
                <a:cubicBezTo>
                  <a:pt x="163169" y="49087"/>
                  <a:pt x="164053" y="51772"/>
                  <a:pt x="165583" y="53948"/>
                </a:cubicBezTo>
                <a:lnTo>
                  <a:pt x="145391" y="69109"/>
                </a:lnTo>
                <a:cubicBezTo>
                  <a:pt x="140325" y="72916"/>
                  <a:pt x="133085" y="71590"/>
                  <a:pt x="129685" y="66253"/>
                </a:cubicBezTo>
                <a:lnTo>
                  <a:pt x="106400" y="2964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487332" y="1427186"/>
            <a:ext cx="3620180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85.2%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7332" y="1810090"/>
            <a:ext cx="352445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£17.87M revenue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26081" y="1044283"/>
            <a:ext cx="3742013" cy="1079092"/>
          </a:xfrm>
          <a:custGeom>
            <a:avLst/>
            <a:gdLst/>
            <a:ahLst/>
            <a:cxnLst/>
            <a:rect l="l" t="t" r="r" b="b"/>
            <a:pathLst>
              <a:path w="3742013" h="1079092">
                <a:moveTo>
                  <a:pt x="104424" y="0"/>
                </a:moveTo>
                <a:lnTo>
                  <a:pt x="3637589" y="0"/>
                </a:lnTo>
                <a:cubicBezTo>
                  <a:pt x="3695261" y="0"/>
                  <a:pt x="3742013" y="46752"/>
                  <a:pt x="3742013" y="104424"/>
                </a:cubicBezTo>
                <a:lnTo>
                  <a:pt x="3742013" y="974668"/>
                </a:lnTo>
                <a:cubicBezTo>
                  <a:pt x="3742013" y="1032340"/>
                  <a:pt x="3695261" y="1079092"/>
                  <a:pt x="3637589" y="1079092"/>
                </a:cubicBezTo>
                <a:lnTo>
                  <a:pt x="104424" y="1079092"/>
                </a:lnTo>
                <a:cubicBezTo>
                  <a:pt x="46752" y="1079092"/>
                  <a:pt x="0" y="1032340"/>
                  <a:pt x="0" y="974668"/>
                </a:cubicBezTo>
                <a:lnTo>
                  <a:pt x="0" y="104424"/>
                </a:lnTo>
                <a:cubicBezTo>
                  <a:pt x="0" y="46752"/>
                  <a:pt x="46752" y="0"/>
                  <a:pt x="1044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107" dist="8702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65319" y="1183520"/>
            <a:ext cx="91374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Countries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9790" y="1183520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19623" y="95182"/>
                </a:moveTo>
                <a:lnTo>
                  <a:pt x="54730" y="95182"/>
                </a:lnTo>
                <a:cubicBezTo>
                  <a:pt x="55715" y="117108"/>
                  <a:pt x="60577" y="137300"/>
                  <a:pt x="67477" y="152087"/>
                </a:cubicBezTo>
                <a:cubicBezTo>
                  <a:pt x="71353" y="160416"/>
                  <a:pt x="75534" y="166297"/>
                  <a:pt x="79409" y="169900"/>
                </a:cubicBezTo>
                <a:cubicBezTo>
                  <a:pt x="83216" y="173469"/>
                  <a:pt x="85834" y="174047"/>
                  <a:pt x="87194" y="174047"/>
                </a:cubicBezTo>
                <a:cubicBezTo>
                  <a:pt x="88553" y="174047"/>
                  <a:pt x="91171" y="173469"/>
                  <a:pt x="94978" y="169900"/>
                </a:cubicBezTo>
                <a:cubicBezTo>
                  <a:pt x="98853" y="166297"/>
                  <a:pt x="103035" y="160382"/>
                  <a:pt x="106910" y="152087"/>
                </a:cubicBezTo>
                <a:cubicBezTo>
                  <a:pt x="113810" y="137300"/>
                  <a:pt x="118672" y="117108"/>
                  <a:pt x="119657" y="95182"/>
                </a:cubicBezTo>
                <a:close/>
                <a:moveTo>
                  <a:pt x="54696" y="78865"/>
                </a:moveTo>
                <a:lnTo>
                  <a:pt x="119589" y="78865"/>
                </a:lnTo>
                <a:cubicBezTo>
                  <a:pt x="118638" y="56939"/>
                  <a:pt x="113776" y="36747"/>
                  <a:pt x="106876" y="21960"/>
                </a:cubicBezTo>
                <a:cubicBezTo>
                  <a:pt x="103001" y="13665"/>
                  <a:pt x="98819" y="7751"/>
                  <a:pt x="94944" y="4147"/>
                </a:cubicBezTo>
                <a:cubicBezTo>
                  <a:pt x="91137" y="578"/>
                  <a:pt x="88519" y="0"/>
                  <a:pt x="87160" y="0"/>
                </a:cubicBezTo>
                <a:cubicBezTo>
                  <a:pt x="85800" y="0"/>
                  <a:pt x="83182" y="578"/>
                  <a:pt x="79375" y="4147"/>
                </a:cubicBezTo>
                <a:cubicBezTo>
                  <a:pt x="75500" y="7751"/>
                  <a:pt x="71319" y="13665"/>
                  <a:pt x="67443" y="21960"/>
                </a:cubicBezTo>
                <a:cubicBezTo>
                  <a:pt x="60543" y="36747"/>
                  <a:pt x="55681" y="56939"/>
                  <a:pt x="54696" y="78865"/>
                </a:cubicBezTo>
                <a:close/>
                <a:moveTo>
                  <a:pt x="38379" y="78865"/>
                </a:moveTo>
                <a:cubicBezTo>
                  <a:pt x="39569" y="49767"/>
                  <a:pt x="47081" y="22742"/>
                  <a:pt x="58061" y="4997"/>
                </a:cubicBezTo>
                <a:cubicBezTo>
                  <a:pt x="26753" y="16079"/>
                  <a:pt x="3705" y="44600"/>
                  <a:pt x="510" y="78865"/>
                </a:cubicBezTo>
                <a:lnTo>
                  <a:pt x="38379" y="78865"/>
                </a:lnTo>
                <a:close/>
                <a:moveTo>
                  <a:pt x="510" y="95182"/>
                </a:moveTo>
                <a:cubicBezTo>
                  <a:pt x="3705" y="129448"/>
                  <a:pt x="26753" y="157968"/>
                  <a:pt x="58061" y="169050"/>
                </a:cubicBezTo>
                <a:cubicBezTo>
                  <a:pt x="47081" y="151305"/>
                  <a:pt x="39569" y="124281"/>
                  <a:pt x="38379" y="95182"/>
                </a:cubicBezTo>
                <a:lnTo>
                  <a:pt x="510" y="95182"/>
                </a:lnTo>
                <a:close/>
                <a:moveTo>
                  <a:pt x="135940" y="95182"/>
                </a:moveTo>
                <a:cubicBezTo>
                  <a:pt x="134751" y="124281"/>
                  <a:pt x="127238" y="151305"/>
                  <a:pt x="116258" y="169050"/>
                </a:cubicBezTo>
                <a:cubicBezTo>
                  <a:pt x="147566" y="157934"/>
                  <a:pt x="170614" y="129448"/>
                  <a:pt x="173809" y="95182"/>
                </a:cubicBezTo>
                <a:lnTo>
                  <a:pt x="135940" y="95182"/>
                </a:lnTo>
                <a:close/>
                <a:moveTo>
                  <a:pt x="173809" y="78865"/>
                </a:moveTo>
                <a:cubicBezTo>
                  <a:pt x="170614" y="44600"/>
                  <a:pt x="147566" y="16079"/>
                  <a:pt x="116258" y="4997"/>
                </a:cubicBezTo>
                <a:cubicBezTo>
                  <a:pt x="127238" y="22742"/>
                  <a:pt x="134751" y="49767"/>
                  <a:pt x="135940" y="78865"/>
                </a:cubicBezTo>
                <a:lnTo>
                  <a:pt x="173809" y="7886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4365319" y="1427186"/>
            <a:ext cx="3620180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65319" y="1810090"/>
            <a:ext cx="352445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total revenue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4069" y="1044283"/>
            <a:ext cx="3742013" cy="1079092"/>
          </a:xfrm>
          <a:custGeom>
            <a:avLst/>
            <a:gdLst/>
            <a:ahLst/>
            <a:cxnLst/>
            <a:rect l="l" t="t" r="r" b="b"/>
            <a:pathLst>
              <a:path w="3742013" h="1079092">
                <a:moveTo>
                  <a:pt x="104424" y="0"/>
                </a:moveTo>
                <a:lnTo>
                  <a:pt x="3637589" y="0"/>
                </a:lnTo>
                <a:cubicBezTo>
                  <a:pt x="3695261" y="0"/>
                  <a:pt x="3742013" y="46752"/>
                  <a:pt x="3742013" y="104424"/>
                </a:cubicBezTo>
                <a:lnTo>
                  <a:pt x="3742013" y="974668"/>
                </a:lnTo>
                <a:cubicBezTo>
                  <a:pt x="3742013" y="1032340"/>
                  <a:pt x="3695261" y="1079092"/>
                  <a:pt x="3637589" y="1079092"/>
                </a:cubicBezTo>
                <a:lnTo>
                  <a:pt x="104424" y="1079092"/>
                </a:lnTo>
                <a:cubicBezTo>
                  <a:pt x="46752" y="1079092"/>
                  <a:pt x="0" y="1032340"/>
                  <a:pt x="0" y="974668"/>
                </a:cubicBezTo>
                <a:lnTo>
                  <a:pt x="0" y="104424"/>
                </a:lnTo>
                <a:cubicBezTo>
                  <a:pt x="0" y="46752"/>
                  <a:pt x="46752" y="0"/>
                  <a:pt x="10442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107" dist="8702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43306" y="1183520"/>
            <a:ext cx="80061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Markets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529533" y="1183520"/>
            <a:ext cx="130535" cy="174047"/>
          </a:xfrm>
          <a:custGeom>
            <a:avLst/>
            <a:gdLst/>
            <a:ahLst/>
            <a:cxnLst/>
            <a:rect l="l" t="t" r="r" b="b"/>
            <a:pathLst>
              <a:path w="130535" h="174047">
                <a:moveTo>
                  <a:pt x="0" y="64112"/>
                </a:moveTo>
                <a:cubicBezTo>
                  <a:pt x="0" y="28691"/>
                  <a:pt x="29234" y="0"/>
                  <a:pt x="65268" y="0"/>
                </a:cubicBezTo>
                <a:cubicBezTo>
                  <a:pt x="101301" y="0"/>
                  <a:pt x="130535" y="28691"/>
                  <a:pt x="130535" y="64112"/>
                </a:cubicBezTo>
                <a:cubicBezTo>
                  <a:pt x="130535" y="104666"/>
                  <a:pt x="89675" y="153277"/>
                  <a:pt x="72610" y="171804"/>
                </a:cubicBezTo>
                <a:cubicBezTo>
                  <a:pt x="68599" y="176155"/>
                  <a:pt x="61902" y="176155"/>
                  <a:pt x="57891" y="171804"/>
                </a:cubicBezTo>
                <a:cubicBezTo>
                  <a:pt x="40826" y="153277"/>
                  <a:pt x="-34" y="104666"/>
                  <a:pt x="-34" y="64112"/>
                </a:cubicBezTo>
                <a:close/>
                <a:moveTo>
                  <a:pt x="65268" y="87024"/>
                </a:moveTo>
                <a:cubicBezTo>
                  <a:pt x="77275" y="87024"/>
                  <a:pt x="87024" y="77275"/>
                  <a:pt x="87024" y="65268"/>
                </a:cubicBezTo>
                <a:cubicBezTo>
                  <a:pt x="87024" y="53260"/>
                  <a:pt x="77275" y="43512"/>
                  <a:pt x="65268" y="43512"/>
                </a:cubicBezTo>
                <a:cubicBezTo>
                  <a:pt x="53260" y="43512"/>
                  <a:pt x="43512" y="53260"/>
                  <a:pt x="43512" y="65268"/>
                </a:cubicBezTo>
                <a:cubicBezTo>
                  <a:pt x="43512" y="77275"/>
                  <a:pt x="53260" y="87024"/>
                  <a:pt x="65268" y="8702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8243306" y="1427186"/>
            <a:ext cx="3620180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43306" y="1810090"/>
            <a:ext cx="352445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Countries served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8094" y="2262612"/>
            <a:ext cx="5673936" cy="4246749"/>
          </a:xfrm>
          <a:custGeom>
            <a:avLst/>
            <a:gdLst/>
            <a:ahLst/>
            <a:cxnLst/>
            <a:rect l="l" t="t" r="r" b="b"/>
            <a:pathLst>
              <a:path w="5673936" h="4246749">
                <a:moveTo>
                  <a:pt x="104428" y="0"/>
                </a:moveTo>
                <a:lnTo>
                  <a:pt x="5569508" y="0"/>
                </a:lnTo>
                <a:cubicBezTo>
                  <a:pt x="5627182" y="0"/>
                  <a:pt x="5673936" y="46754"/>
                  <a:pt x="5673936" y="104428"/>
                </a:cubicBezTo>
                <a:lnTo>
                  <a:pt x="5673936" y="4142322"/>
                </a:lnTo>
                <a:cubicBezTo>
                  <a:pt x="5673936" y="4199996"/>
                  <a:pt x="5627182" y="4246749"/>
                  <a:pt x="5569508" y="4246749"/>
                </a:cubicBezTo>
                <a:lnTo>
                  <a:pt x="104428" y="4246749"/>
                </a:lnTo>
                <a:cubicBezTo>
                  <a:pt x="46754" y="4246749"/>
                  <a:pt x="0" y="4199996"/>
                  <a:pt x="0" y="4142322"/>
                </a:cubicBezTo>
                <a:lnTo>
                  <a:pt x="0" y="104428"/>
                </a:lnTo>
                <a:cubicBezTo>
                  <a:pt x="0" y="46754"/>
                  <a:pt x="46754" y="0"/>
                  <a:pt x="1044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107" dist="8702" dir="540000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2141" y="2436660"/>
            <a:ext cx="541286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Top 10 Countries by Revenue</a:t>
            </a:r>
            <a:endParaRPr lang="en-US" sz="1600" dirty="0"/>
          </a:p>
        </p:txBody>
      </p:sp>
      <p:pic>
        <p:nvPicPr>
          <p:cNvPr id="21" name="Image 0" descr="https://kimi-img.moonshot.cn/pub/slides/26-03-01-16:07:41-d6hv7jbfj2j4etp7pb4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2141" y="2784754"/>
            <a:ext cx="4803700" cy="2958801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6165075" y="2262612"/>
            <a:ext cx="5673936" cy="4246749"/>
          </a:xfrm>
          <a:custGeom>
            <a:avLst/>
            <a:gdLst/>
            <a:ahLst/>
            <a:cxnLst/>
            <a:rect l="l" t="t" r="r" b="b"/>
            <a:pathLst>
              <a:path w="5673936" h="4246749">
                <a:moveTo>
                  <a:pt x="104428" y="0"/>
                </a:moveTo>
                <a:lnTo>
                  <a:pt x="5569508" y="0"/>
                </a:lnTo>
                <a:cubicBezTo>
                  <a:pt x="5627182" y="0"/>
                  <a:pt x="5673936" y="46754"/>
                  <a:pt x="5673936" y="104428"/>
                </a:cubicBezTo>
                <a:lnTo>
                  <a:pt x="5673936" y="4142322"/>
                </a:lnTo>
                <a:cubicBezTo>
                  <a:pt x="5673936" y="4199996"/>
                  <a:pt x="5627182" y="4246749"/>
                  <a:pt x="5569508" y="4246749"/>
                </a:cubicBezTo>
                <a:lnTo>
                  <a:pt x="104428" y="4246749"/>
                </a:lnTo>
                <a:cubicBezTo>
                  <a:pt x="46754" y="4246749"/>
                  <a:pt x="0" y="4199996"/>
                  <a:pt x="0" y="4142322"/>
                </a:cubicBezTo>
                <a:lnTo>
                  <a:pt x="0" y="104428"/>
                </a:lnTo>
                <a:cubicBezTo>
                  <a:pt x="0" y="46754"/>
                  <a:pt x="46754" y="0"/>
                  <a:pt x="1044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107" dist="8702" dir="5400000">
              <a:srgbClr val="000000">
                <a:alpha val="10196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339122" y="2436660"/>
            <a:ext cx="541286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 Concentration Analysis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39122" y="2784754"/>
            <a:ext cx="5325842" cy="626570"/>
          </a:xfrm>
          <a:custGeom>
            <a:avLst/>
            <a:gdLst/>
            <a:ahLst/>
            <a:cxnLst/>
            <a:rect l="l" t="t" r="r" b="b"/>
            <a:pathLst>
              <a:path w="5325842" h="626570">
                <a:moveTo>
                  <a:pt x="69618" y="0"/>
                </a:moveTo>
                <a:lnTo>
                  <a:pt x="5256223" y="0"/>
                </a:lnTo>
                <a:cubicBezTo>
                  <a:pt x="5294672" y="0"/>
                  <a:pt x="5325842" y="31169"/>
                  <a:pt x="5325842" y="69618"/>
                </a:cubicBezTo>
                <a:lnTo>
                  <a:pt x="5325842" y="556951"/>
                </a:lnTo>
                <a:cubicBezTo>
                  <a:pt x="5325842" y="595400"/>
                  <a:pt x="5294672" y="626570"/>
                  <a:pt x="5256223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Shape 22"/>
          <p:cNvSpPr/>
          <p:nvPr/>
        </p:nvSpPr>
        <p:spPr>
          <a:xfrm>
            <a:off x="6443550" y="2923991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174047" y="0"/>
                </a:moveTo>
                <a:lnTo>
                  <a:pt x="174047" y="0"/>
                </a:lnTo>
                <a:cubicBezTo>
                  <a:pt x="270106" y="0"/>
                  <a:pt x="348094" y="77988"/>
                  <a:pt x="348094" y="174047"/>
                </a:cubicBezTo>
                <a:lnTo>
                  <a:pt x="348094" y="174047"/>
                </a:lnTo>
                <a:cubicBezTo>
                  <a:pt x="348094" y="270106"/>
                  <a:pt x="270106" y="348094"/>
                  <a:pt x="174047" y="348094"/>
                </a:cubicBezTo>
                <a:lnTo>
                  <a:pt x="174047" y="348094"/>
                </a:lnTo>
                <a:cubicBezTo>
                  <a:pt x="77988" y="348094"/>
                  <a:pt x="0" y="270106"/>
                  <a:pt x="0" y="174047"/>
                </a:cubicBezTo>
                <a:lnTo>
                  <a:pt x="0" y="174047"/>
                </a:lnTo>
                <a:cubicBezTo>
                  <a:pt x="0" y="77988"/>
                  <a:pt x="77988" y="0"/>
                  <a:pt x="17404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6" name="Text 23"/>
          <p:cNvSpPr/>
          <p:nvPr/>
        </p:nvSpPr>
        <p:spPr>
          <a:xfrm>
            <a:off x="6408741" y="2923991"/>
            <a:ext cx="417713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96073" y="2906587"/>
            <a:ext cx="106168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United Kingdom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96073" y="3115443"/>
            <a:ext cx="105298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Market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990939" y="2889182"/>
            <a:ext cx="57435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85.2%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017046" y="3132848"/>
            <a:ext cx="54824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£17.87M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39122" y="3515752"/>
            <a:ext cx="5325842" cy="626570"/>
          </a:xfrm>
          <a:custGeom>
            <a:avLst/>
            <a:gdLst/>
            <a:ahLst/>
            <a:cxnLst/>
            <a:rect l="l" t="t" r="r" b="b"/>
            <a:pathLst>
              <a:path w="5325842" h="626570">
                <a:moveTo>
                  <a:pt x="69618" y="0"/>
                </a:moveTo>
                <a:lnTo>
                  <a:pt x="5256223" y="0"/>
                </a:lnTo>
                <a:cubicBezTo>
                  <a:pt x="5294672" y="0"/>
                  <a:pt x="5325842" y="31169"/>
                  <a:pt x="5325842" y="69618"/>
                </a:cubicBezTo>
                <a:lnTo>
                  <a:pt x="5325842" y="556951"/>
                </a:lnTo>
                <a:cubicBezTo>
                  <a:pt x="5325842" y="595400"/>
                  <a:pt x="5294672" y="626570"/>
                  <a:pt x="5256223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2" name="Shape 29"/>
          <p:cNvSpPr/>
          <p:nvPr/>
        </p:nvSpPr>
        <p:spPr>
          <a:xfrm>
            <a:off x="6443550" y="3654989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174047" y="0"/>
                </a:moveTo>
                <a:lnTo>
                  <a:pt x="174047" y="0"/>
                </a:lnTo>
                <a:cubicBezTo>
                  <a:pt x="270106" y="0"/>
                  <a:pt x="348094" y="77988"/>
                  <a:pt x="348094" y="174047"/>
                </a:cubicBezTo>
                <a:lnTo>
                  <a:pt x="348094" y="174047"/>
                </a:lnTo>
                <a:cubicBezTo>
                  <a:pt x="348094" y="270106"/>
                  <a:pt x="270106" y="348094"/>
                  <a:pt x="174047" y="348094"/>
                </a:cubicBezTo>
                <a:lnTo>
                  <a:pt x="174047" y="348094"/>
                </a:lnTo>
                <a:cubicBezTo>
                  <a:pt x="77988" y="348094"/>
                  <a:pt x="0" y="270106"/>
                  <a:pt x="0" y="174047"/>
                </a:cubicBezTo>
                <a:lnTo>
                  <a:pt x="0" y="174047"/>
                </a:lnTo>
                <a:cubicBezTo>
                  <a:pt x="0" y="77988"/>
                  <a:pt x="77988" y="0"/>
                  <a:pt x="174047" y="0"/>
                </a:cubicBezTo>
                <a:close/>
              </a:path>
            </a:pathLst>
          </a:custGeom>
          <a:solidFill>
            <a:srgbClr val="6E6E73"/>
          </a:solidFill>
          <a:ln/>
        </p:spPr>
      </p:sp>
      <p:sp>
        <p:nvSpPr>
          <p:cNvPr id="33" name="Text 30"/>
          <p:cNvSpPr/>
          <p:nvPr/>
        </p:nvSpPr>
        <p:spPr>
          <a:xfrm>
            <a:off x="6408741" y="3654989"/>
            <a:ext cx="417713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96073" y="3637585"/>
            <a:ext cx="105298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EIRE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896073" y="3846441"/>
            <a:ext cx="104428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 Market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095367" y="3620180"/>
            <a:ext cx="46992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3.2%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121474" y="3863846"/>
            <a:ext cx="44382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£664K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39122" y="4246749"/>
            <a:ext cx="5325842" cy="626570"/>
          </a:xfrm>
          <a:custGeom>
            <a:avLst/>
            <a:gdLst/>
            <a:ahLst/>
            <a:cxnLst/>
            <a:rect l="l" t="t" r="r" b="b"/>
            <a:pathLst>
              <a:path w="5325842" h="626570">
                <a:moveTo>
                  <a:pt x="69618" y="0"/>
                </a:moveTo>
                <a:lnTo>
                  <a:pt x="5256223" y="0"/>
                </a:lnTo>
                <a:cubicBezTo>
                  <a:pt x="5294672" y="0"/>
                  <a:pt x="5325842" y="31169"/>
                  <a:pt x="5325842" y="69618"/>
                </a:cubicBezTo>
                <a:lnTo>
                  <a:pt x="5325842" y="556951"/>
                </a:lnTo>
                <a:cubicBezTo>
                  <a:pt x="5325842" y="595400"/>
                  <a:pt x="5294672" y="626570"/>
                  <a:pt x="5256223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9" name="Shape 36"/>
          <p:cNvSpPr/>
          <p:nvPr/>
        </p:nvSpPr>
        <p:spPr>
          <a:xfrm>
            <a:off x="6443550" y="4385987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174047" y="0"/>
                </a:moveTo>
                <a:lnTo>
                  <a:pt x="174047" y="0"/>
                </a:lnTo>
                <a:cubicBezTo>
                  <a:pt x="270106" y="0"/>
                  <a:pt x="348094" y="77988"/>
                  <a:pt x="348094" y="174047"/>
                </a:cubicBezTo>
                <a:lnTo>
                  <a:pt x="348094" y="174047"/>
                </a:lnTo>
                <a:cubicBezTo>
                  <a:pt x="348094" y="270106"/>
                  <a:pt x="270106" y="348094"/>
                  <a:pt x="174047" y="348094"/>
                </a:cubicBezTo>
                <a:lnTo>
                  <a:pt x="174047" y="348094"/>
                </a:lnTo>
                <a:cubicBezTo>
                  <a:pt x="77988" y="348094"/>
                  <a:pt x="0" y="270106"/>
                  <a:pt x="0" y="174047"/>
                </a:cubicBezTo>
                <a:lnTo>
                  <a:pt x="0" y="174047"/>
                </a:lnTo>
                <a:cubicBezTo>
                  <a:pt x="0" y="77988"/>
                  <a:pt x="77988" y="0"/>
                  <a:pt x="174047" y="0"/>
                </a:cubicBezTo>
                <a:close/>
              </a:path>
            </a:pathLst>
          </a:custGeom>
          <a:solidFill>
            <a:srgbClr val="6E6E73"/>
          </a:solidFill>
          <a:ln/>
        </p:spPr>
      </p:sp>
      <p:sp>
        <p:nvSpPr>
          <p:cNvPr id="40" name="Text 37"/>
          <p:cNvSpPr/>
          <p:nvPr/>
        </p:nvSpPr>
        <p:spPr>
          <a:xfrm>
            <a:off x="6408741" y="4385987"/>
            <a:ext cx="417713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896073" y="4368582"/>
            <a:ext cx="835426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Netherlands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896073" y="4577439"/>
            <a:ext cx="82672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European Hub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1094007" y="4351178"/>
            <a:ext cx="469927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2.6%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120115" y="4594844"/>
            <a:ext cx="44382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£554K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339122" y="4977747"/>
            <a:ext cx="5325842" cy="626570"/>
          </a:xfrm>
          <a:custGeom>
            <a:avLst/>
            <a:gdLst/>
            <a:ahLst/>
            <a:cxnLst/>
            <a:rect l="l" t="t" r="r" b="b"/>
            <a:pathLst>
              <a:path w="5325842" h="626570">
                <a:moveTo>
                  <a:pt x="69618" y="0"/>
                </a:moveTo>
                <a:lnTo>
                  <a:pt x="5256223" y="0"/>
                </a:lnTo>
                <a:cubicBezTo>
                  <a:pt x="5294672" y="0"/>
                  <a:pt x="5325842" y="31169"/>
                  <a:pt x="5325842" y="69618"/>
                </a:cubicBezTo>
                <a:lnTo>
                  <a:pt x="5325842" y="556951"/>
                </a:lnTo>
                <a:cubicBezTo>
                  <a:pt x="5325842" y="595400"/>
                  <a:pt x="5294672" y="626570"/>
                  <a:pt x="5256223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6" name="Shape 43"/>
          <p:cNvSpPr/>
          <p:nvPr/>
        </p:nvSpPr>
        <p:spPr>
          <a:xfrm>
            <a:off x="6443550" y="5116985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174047" y="0"/>
                </a:moveTo>
                <a:lnTo>
                  <a:pt x="174047" y="0"/>
                </a:lnTo>
                <a:cubicBezTo>
                  <a:pt x="270106" y="0"/>
                  <a:pt x="348094" y="77988"/>
                  <a:pt x="348094" y="174047"/>
                </a:cubicBezTo>
                <a:lnTo>
                  <a:pt x="348094" y="174047"/>
                </a:lnTo>
                <a:cubicBezTo>
                  <a:pt x="348094" y="270106"/>
                  <a:pt x="270106" y="348094"/>
                  <a:pt x="174047" y="348094"/>
                </a:cubicBezTo>
                <a:lnTo>
                  <a:pt x="174047" y="348094"/>
                </a:lnTo>
                <a:cubicBezTo>
                  <a:pt x="77988" y="348094"/>
                  <a:pt x="0" y="270106"/>
                  <a:pt x="0" y="174047"/>
                </a:cubicBezTo>
                <a:lnTo>
                  <a:pt x="0" y="174047"/>
                </a:lnTo>
                <a:cubicBezTo>
                  <a:pt x="0" y="77988"/>
                  <a:pt x="77988" y="0"/>
                  <a:pt x="174047" y="0"/>
                </a:cubicBezTo>
                <a:close/>
              </a:path>
            </a:pathLst>
          </a:custGeom>
          <a:solidFill>
            <a:srgbClr val="6E6E73"/>
          </a:solidFill>
          <a:ln/>
        </p:spPr>
      </p:sp>
      <p:sp>
        <p:nvSpPr>
          <p:cNvPr id="47" name="Text 44"/>
          <p:cNvSpPr/>
          <p:nvPr/>
        </p:nvSpPr>
        <p:spPr>
          <a:xfrm>
            <a:off x="6408741" y="5116985"/>
            <a:ext cx="417713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896073" y="5099580"/>
            <a:ext cx="96596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Germany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896073" y="5308437"/>
            <a:ext cx="95725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EU Market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1128409" y="5082176"/>
            <a:ext cx="43511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2.1%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154516" y="5325842"/>
            <a:ext cx="40901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£431K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39122" y="5708745"/>
            <a:ext cx="5325842" cy="626570"/>
          </a:xfrm>
          <a:custGeom>
            <a:avLst/>
            <a:gdLst/>
            <a:ahLst/>
            <a:cxnLst/>
            <a:rect l="l" t="t" r="r" b="b"/>
            <a:pathLst>
              <a:path w="5325842" h="626570">
                <a:moveTo>
                  <a:pt x="69618" y="0"/>
                </a:moveTo>
                <a:lnTo>
                  <a:pt x="5256223" y="0"/>
                </a:lnTo>
                <a:cubicBezTo>
                  <a:pt x="5294672" y="0"/>
                  <a:pt x="5325842" y="31169"/>
                  <a:pt x="5325842" y="69618"/>
                </a:cubicBezTo>
                <a:lnTo>
                  <a:pt x="5325842" y="556951"/>
                </a:lnTo>
                <a:cubicBezTo>
                  <a:pt x="5325842" y="595400"/>
                  <a:pt x="5294672" y="626570"/>
                  <a:pt x="5256223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3" name="Shape 50"/>
          <p:cNvSpPr/>
          <p:nvPr/>
        </p:nvSpPr>
        <p:spPr>
          <a:xfrm>
            <a:off x="6443550" y="5847983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174047" y="0"/>
                </a:moveTo>
                <a:lnTo>
                  <a:pt x="174047" y="0"/>
                </a:lnTo>
                <a:cubicBezTo>
                  <a:pt x="270106" y="0"/>
                  <a:pt x="348094" y="77988"/>
                  <a:pt x="348094" y="174047"/>
                </a:cubicBezTo>
                <a:lnTo>
                  <a:pt x="348094" y="174047"/>
                </a:lnTo>
                <a:cubicBezTo>
                  <a:pt x="348094" y="270106"/>
                  <a:pt x="270106" y="348094"/>
                  <a:pt x="174047" y="348094"/>
                </a:cubicBezTo>
                <a:lnTo>
                  <a:pt x="174047" y="348094"/>
                </a:lnTo>
                <a:cubicBezTo>
                  <a:pt x="77988" y="348094"/>
                  <a:pt x="0" y="270106"/>
                  <a:pt x="0" y="174047"/>
                </a:cubicBezTo>
                <a:lnTo>
                  <a:pt x="0" y="174047"/>
                </a:lnTo>
                <a:cubicBezTo>
                  <a:pt x="0" y="77988"/>
                  <a:pt x="77988" y="0"/>
                  <a:pt x="174047" y="0"/>
                </a:cubicBezTo>
                <a:close/>
              </a:path>
            </a:pathLst>
          </a:custGeom>
          <a:solidFill>
            <a:srgbClr val="6E6E73"/>
          </a:solidFill>
          <a:ln/>
        </p:spPr>
      </p:sp>
      <p:sp>
        <p:nvSpPr>
          <p:cNvPr id="54" name="Text 51"/>
          <p:cNvSpPr/>
          <p:nvPr/>
        </p:nvSpPr>
        <p:spPr>
          <a:xfrm>
            <a:off x="6408741" y="5847983"/>
            <a:ext cx="417713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896073" y="5830578"/>
            <a:ext cx="86153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France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6896073" y="6039435"/>
            <a:ext cx="85283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EU Market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1126777" y="5813173"/>
            <a:ext cx="43511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7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1.7%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1152884" y="6056839"/>
            <a:ext cx="40901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5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£357K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spc="4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&amp; Temporal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22631"/>
            <a:ext cx="11685701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Top Products &amp; Seasonal Trends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6644" y="979933"/>
            <a:ext cx="5708110" cy="2939799"/>
          </a:xfrm>
          <a:custGeom>
            <a:avLst/>
            <a:gdLst/>
            <a:ahLst/>
            <a:cxnLst/>
            <a:rect l="l" t="t" r="r" b="b"/>
            <a:pathLst>
              <a:path w="5708110" h="2939799">
                <a:moveTo>
                  <a:pt x="97984" y="0"/>
                </a:moveTo>
                <a:lnTo>
                  <a:pt x="5610126" y="0"/>
                </a:lnTo>
                <a:cubicBezTo>
                  <a:pt x="5664241" y="0"/>
                  <a:pt x="5708110" y="43869"/>
                  <a:pt x="5708110" y="97984"/>
                </a:cubicBezTo>
                <a:lnTo>
                  <a:pt x="5708110" y="2841816"/>
                </a:lnTo>
                <a:cubicBezTo>
                  <a:pt x="5708110" y="2895930"/>
                  <a:pt x="5664241" y="2939799"/>
                  <a:pt x="5610126" y="2939799"/>
                </a:cubicBezTo>
                <a:lnTo>
                  <a:pt x="97984" y="2939799"/>
                </a:lnTo>
                <a:cubicBezTo>
                  <a:pt x="43869" y="2939799"/>
                  <a:pt x="0" y="2895930"/>
                  <a:pt x="0" y="2841816"/>
                </a:cubicBezTo>
                <a:lnTo>
                  <a:pt x="0" y="97984"/>
                </a:lnTo>
                <a:cubicBezTo>
                  <a:pt x="0" y="43869"/>
                  <a:pt x="43869" y="0"/>
                  <a:pt x="97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9967" y="1143255"/>
            <a:ext cx="546312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Top 10 Products by Revenue</a:t>
            </a:r>
            <a:endParaRPr lang="en-US" sz="1600" dirty="0"/>
          </a:p>
        </p:txBody>
      </p:sp>
      <p:pic>
        <p:nvPicPr>
          <p:cNvPr id="6" name="Image 0" descr="https://kimi-img.moonshot.cn/pub/slides/26-03-01-16:07:41-d6hv7jdbf30c70sbcis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967" y="1469900"/>
            <a:ext cx="4507692" cy="228651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162605" y="979933"/>
            <a:ext cx="5708110" cy="2939799"/>
          </a:xfrm>
          <a:custGeom>
            <a:avLst/>
            <a:gdLst/>
            <a:ahLst/>
            <a:cxnLst/>
            <a:rect l="l" t="t" r="r" b="b"/>
            <a:pathLst>
              <a:path w="5708110" h="2939799">
                <a:moveTo>
                  <a:pt x="97984" y="0"/>
                </a:moveTo>
                <a:lnTo>
                  <a:pt x="5610126" y="0"/>
                </a:lnTo>
                <a:cubicBezTo>
                  <a:pt x="5664241" y="0"/>
                  <a:pt x="5708110" y="43869"/>
                  <a:pt x="5708110" y="97984"/>
                </a:cubicBezTo>
                <a:lnTo>
                  <a:pt x="5708110" y="2841816"/>
                </a:lnTo>
                <a:cubicBezTo>
                  <a:pt x="5708110" y="2895930"/>
                  <a:pt x="5664241" y="2939799"/>
                  <a:pt x="5610126" y="2939799"/>
                </a:cubicBezTo>
                <a:lnTo>
                  <a:pt x="97984" y="2939799"/>
                </a:lnTo>
                <a:cubicBezTo>
                  <a:pt x="43869" y="2939799"/>
                  <a:pt x="0" y="2895930"/>
                  <a:pt x="0" y="2841816"/>
                </a:cubicBezTo>
                <a:lnTo>
                  <a:pt x="0" y="97984"/>
                </a:lnTo>
                <a:cubicBezTo>
                  <a:pt x="0" y="43869"/>
                  <a:pt x="43869" y="0"/>
                  <a:pt x="97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25927" y="1143255"/>
            <a:ext cx="546312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Monthly Revenue Trend</a:t>
            </a:r>
            <a:endParaRPr lang="en-US" sz="1600" dirty="0"/>
          </a:p>
        </p:txBody>
      </p:sp>
      <p:pic>
        <p:nvPicPr>
          <p:cNvPr id="9" name="Image 1" descr="https://kimi-img.moonshot.cn/pub/slides/26-03-01-16:07:41-d6hv7jcrhkldm2odr43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5927" y="1469900"/>
            <a:ext cx="4507692" cy="228651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326644" y="4050390"/>
            <a:ext cx="3756410" cy="1241248"/>
          </a:xfrm>
          <a:custGeom>
            <a:avLst/>
            <a:gdLst/>
            <a:ahLst/>
            <a:cxnLst/>
            <a:rect l="l" t="t" r="r" b="b"/>
            <a:pathLst>
              <a:path w="3756410" h="1241248">
                <a:moveTo>
                  <a:pt x="97997" y="0"/>
                </a:moveTo>
                <a:lnTo>
                  <a:pt x="3658413" y="0"/>
                </a:lnTo>
                <a:cubicBezTo>
                  <a:pt x="3712535" y="0"/>
                  <a:pt x="3756410" y="43875"/>
                  <a:pt x="3756410" y="97997"/>
                </a:cubicBezTo>
                <a:lnTo>
                  <a:pt x="3756410" y="1143252"/>
                </a:lnTo>
                <a:cubicBezTo>
                  <a:pt x="3756410" y="1197374"/>
                  <a:pt x="3712535" y="1241248"/>
                  <a:pt x="3658413" y="1241248"/>
                </a:cubicBezTo>
                <a:lnTo>
                  <a:pt x="97997" y="1241248"/>
                </a:lnTo>
                <a:cubicBezTo>
                  <a:pt x="43875" y="1241248"/>
                  <a:pt x="0" y="1197374"/>
                  <a:pt x="0" y="1143252"/>
                </a:cubicBezTo>
                <a:lnTo>
                  <a:pt x="0" y="97997"/>
                </a:lnTo>
                <a:cubicBezTo>
                  <a:pt x="0" y="43911"/>
                  <a:pt x="43911" y="0"/>
                  <a:pt x="979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7717" y="4213712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46030" y="0"/>
                </a:moveTo>
                <a:lnTo>
                  <a:pt x="117484" y="0"/>
                </a:lnTo>
                <a:cubicBezTo>
                  <a:pt x="125937" y="0"/>
                  <a:pt x="132827" y="6954"/>
                  <a:pt x="132508" y="15375"/>
                </a:cubicBezTo>
                <a:cubicBezTo>
                  <a:pt x="132444" y="17066"/>
                  <a:pt x="132380" y="18757"/>
                  <a:pt x="132285" y="20415"/>
                </a:cubicBezTo>
                <a:lnTo>
                  <a:pt x="148106" y="20415"/>
                </a:lnTo>
                <a:cubicBezTo>
                  <a:pt x="156432" y="20415"/>
                  <a:pt x="163769" y="27305"/>
                  <a:pt x="163131" y="36301"/>
                </a:cubicBezTo>
                <a:cubicBezTo>
                  <a:pt x="160738" y="69380"/>
                  <a:pt x="143832" y="87562"/>
                  <a:pt x="125490" y="97068"/>
                </a:cubicBezTo>
                <a:cubicBezTo>
                  <a:pt x="120450" y="99684"/>
                  <a:pt x="115314" y="101630"/>
                  <a:pt x="110434" y="103065"/>
                </a:cubicBezTo>
                <a:cubicBezTo>
                  <a:pt x="103990" y="112188"/>
                  <a:pt x="97292" y="117005"/>
                  <a:pt x="91964" y="119589"/>
                </a:cubicBezTo>
                <a:lnTo>
                  <a:pt x="91964" y="142907"/>
                </a:lnTo>
                <a:lnTo>
                  <a:pt x="112380" y="142907"/>
                </a:lnTo>
                <a:cubicBezTo>
                  <a:pt x="118026" y="142907"/>
                  <a:pt x="122587" y="147468"/>
                  <a:pt x="122587" y="153115"/>
                </a:cubicBezTo>
                <a:cubicBezTo>
                  <a:pt x="122587" y="158761"/>
                  <a:pt x="118026" y="163322"/>
                  <a:pt x="112380" y="163322"/>
                </a:cubicBezTo>
                <a:lnTo>
                  <a:pt x="51134" y="163322"/>
                </a:lnTo>
                <a:cubicBezTo>
                  <a:pt x="45488" y="163322"/>
                  <a:pt x="40926" y="158761"/>
                  <a:pt x="40926" y="153115"/>
                </a:cubicBezTo>
                <a:cubicBezTo>
                  <a:pt x="40926" y="147468"/>
                  <a:pt x="45488" y="142907"/>
                  <a:pt x="51134" y="142907"/>
                </a:cubicBezTo>
                <a:lnTo>
                  <a:pt x="71549" y="142907"/>
                </a:lnTo>
                <a:lnTo>
                  <a:pt x="71549" y="119589"/>
                </a:lnTo>
                <a:cubicBezTo>
                  <a:pt x="66445" y="117133"/>
                  <a:pt x="60097" y="112571"/>
                  <a:pt x="53909" y="104182"/>
                </a:cubicBezTo>
                <a:cubicBezTo>
                  <a:pt x="48040" y="102651"/>
                  <a:pt x="41660" y="100322"/>
                  <a:pt x="35440" y="96813"/>
                </a:cubicBezTo>
                <a:cubicBezTo>
                  <a:pt x="18182" y="87148"/>
                  <a:pt x="2616" y="68933"/>
                  <a:pt x="383" y="36237"/>
                </a:cubicBezTo>
                <a:cubicBezTo>
                  <a:pt x="-223" y="27274"/>
                  <a:pt x="7082" y="20383"/>
                  <a:pt x="15407" y="20383"/>
                </a:cubicBezTo>
                <a:lnTo>
                  <a:pt x="31229" y="20383"/>
                </a:lnTo>
                <a:cubicBezTo>
                  <a:pt x="31133" y="18725"/>
                  <a:pt x="31069" y="17066"/>
                  <a:pt x="31006" y="15343"/>
                </a:cubicBezTo>
                <a:cubicBezTo>
                  <a:pt x="30687" y="6890"/>
                  <a:pt x="37577" y="-32"/>
                  <a:pt x="46030" y="-32"/>
                </a:cubicBezTo>
                <a:close/>
                <a:moveTo>
                  <a:pt x="32377" y="35727"/>
                </a:moveTo>
                <a:lnTo>
                  <a:pt x="15662" y="35727"/>
                </a:lnTo>
                <a:cubicBezTo>
                  <a:pt x="17640" y="62745"/>
                  <a:pt x="30049" y="76270"/>
                  <a:pt x="42840" y="83447"/>
                </a:cubicBezTo>
                <a:cubicBezTo>
                  <a:pt x="38247" y="71549"/>
                  <a:pt x="34451" y="56014"/>
                  <a:pt x="32377" y="35727"/>
                </a:cubicBezTo>
                <a:close/>
                <a:moveTo>
                  <a:pt x="121216" y="81916"/>
                </a:moveTo>
                <a:cubicBezTo>
                  <a:pt x="134135" y="74324"/>
                  <a:pt x="145810" y="60831"/>
                  <a:pt x="147787" y="35727"/>
                </a:cubicBezTo>
                <a:lnTo>
                  <a:pt x="131104" y="35727"/>
                </a:lnTo>
                <a:cubicBezTo>
                  <a:pt x="129127" y="55153"/>
                  <a:pt x="125554" y="70241"/>
                  <a:pt x="121216" y="8191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8"/>
          <p:cNvSpPr/>
          <p:nvPr/>
        </p:nvSpPr>
        <p:spPr>
          <a:xfrm>
            <a:off x="759448" y="4181048"/>
            <a:ext cx="89827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Top Product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302" y="4475027"/>
            <a:ext cx="356042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Regency Cakestand 3 Tier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302" y="4703678"/>
            <a:ext cx="359308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£344,563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302" y="4997658"/>
            <a:ext cx="355225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1.6% of total revenue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217285" y="4050390"/>
            <a:ext cx="3756410" cy="1241248"/>
          </a:xfrm>
          <a:custGeom>
            <a:avLst/>
            <a:gdLst/>
            <a:ahLst/>
            <a:cxnLst/>
            <a:rect l="l" t="t" r="r" b="b"/>
            <a:pathLst>
              <a:path w="3756410" h="1241248">
                <a:moveTo>
                  <a:pt x="97997" y="0"/>
                </a:moveTo>
                <a:lnTo>
                  <a:pt x="3658413" y="0"/>
                </a:lnTo>
                <a:cubicBezTo>
                  <a:pt x="3712535" y="0"/>
                  <a:pt x="3756410" y="43875"/>
                  <a:pt x="3756410" y="97997"/>
                </a:cubicBezTo>
                <a:lnTo>
                  <a:pt x="3756410" y="1143252"/>
                </a:lnTo>
                <a:cubicBezTo>
                  <a:pt x="3756410" y="1197374"/>
                  <a:pt x="3712535" y="1241248"/>
                  <a:pt x="3658413" y="1241248"/>
                </a:cubicBezTo>
                <a:lnTo>
                  <a:pt x="97997" y="1241248"/>
                </a:lnTo>
                <a:cubicBezTo>
                  <a:pt x="43875" y="1241248"/>
                  <a:pt x="0" y="1197374"/>
                  <a:pt x="0" y="1143252"/>
                </a:cubicBezTo>
                <a:lnTo>
                  <a:pt x="0" y="97997"/>
                </a:lnTo>
                <a:cubicBezTo>
                  <a:pt x="0" y="43911"/>
                  <a:pt x="43911" y="0"/>
                  <a:pt x="979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68358" y="4213712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20415" y="20415"/>
                </a:moveTo>
                <a:cubicBezTo>
                  <a:pt x="20415" y="14769"/>
                  <a:pt x="15854" y="10208"/>
                  <a:pt x="10208" y="10208"/>
                </a:cubicBezTo>
                <a:cubicBezTo>
                  <a:pt x="4562" y="10208"/>
                  <a:pt x="0" y="14769"/>
                  <a:pt x="0" y="20415"/>
                </a:cubicBezTo>
                <a:lnTo>
                  <a:pt x="0" y="127595"/>
                </a:lnTo>
                <a:cubicBezTo>
                  <a:pt x="0" y="141695"/>
                  <a:pt x="11420" y="153115"/>
                  <a:pt x="25519" y="153115"/>
                </a:cubicBezTo>
                <a:lnTo>
                  <a:pt x="153115" y="153115"/>
                </a:lnTo>
                <a:cubicBezTo>
                  <a:pt x="158761" y="153115"/>
                  <a:pt x="163322" y="148553"/>
                  <a:pt x="163322" y="142907"/>
                </a:cubicBezTo>
                <a:cubicBezTo>
                  <a:pt x="163322" y="137261"/>
                  <a:pt x="158761" y="132699"/>
                  <a:pt x="153115" y="132699"/>
                </a:cubicBezTo>
                <a:lnTo>
                  <a:pt x="25519" y="132699"/>
                </a:lnTo>
                <a:cubicBezTo>
                  <a:pt x="22712" y="132699"/>
                  <a:pt x="20415" y="130403"/>
                  <a:pt x="20415" y="127595"/>
                </a:cubicBezTo>
                <a:lnTo>
                  <a:pt x="20415" y="20415"/>
                </a:lnTo>
                <a:close/>
                <a:moveTo>
                  <a:pt x="150116" y="48040"/>
                </a:moveTo>
                <a:cubicBezTo>
                  <a:pt x="154103" y="44052"/>
                  <a:pt x="154103" y="37577"/>
                  <a:pt x="150116" y="33590"/>
                </a:cubicBezTo>
                <a:cubicBezTo>
                  <a:pt x="146129" y="29602"/>
                  <a:pt x="139653" y="29602"/>
                  <a:pt x="135666" y="33590"/>
                </a:cubicBezTo>
                <a:lnTo>
                  <a:pt x="102076" y="67211"/>
                </a:lnTo>
                <a:lnTo>
                  <a:pt x="83766" y="48933"/>
                </a:lnTo>
                <a:cubicBezTo>
                  <a:pt x="79779" y="44945"/>
                  <a:pt x="73304" y="44945"/>
                  <a:pt x="69316" y="48933"/>
                </a:cubicBezTo>
                <a:lnTo>
                  <a:pt x="38693" y="79556"/>
                </a:lnTo>
                <a:cubicBezTo>
                  <a:pt x="34706" y="83543"/>
                  <a:pt x="34706" y="90019"/>
                  <a:pt x="38693" y="94006"/>
                </a:cubicBezTo>
                <a:cubicBezTo>
                  <a:pt x="42681" y="97993"/>
                  <a:pt x="49156" y="97993"/>
                  <a:pt x="53144" y="94006"/>
                </a:cubicBezTo>
                <a:lnTo>
                  <a:pt x="76557" y="70592"/>
                </a:lnTo>
                <a:lnTo>
                  <a:pt x="94867" y="88902"/>
                </a:lnTo>
                <a:cubicBezTo>
                  <a:pt x="98855" y="92889"/>
                  <a:pt x="105330" y="92889"/>
                  <a:pt x="109317" y="88902"/>
                </a:cubicBezTo>
                <a:lnTo>
                  <a:pt x="150148" y="4807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4"/>
          <p:cNvSpPr/>
          <p:nvPr/>
        </p:nvSpPr>
        <p:spPr>
          <a:xfrm>
            <a:off x="4650088" y="4181048"/>
            <a:ext cx="92277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Peak Season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347942" y="4475027"/>
            <a:ext cx="356042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Q4 (Oct-Dec)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347942" y="4703678"/>
            <a:ext cx="359308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+35%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347942" y="4997658"/>
            <a:ext cx="355225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quarterly average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8107925" y="4050390"/>
            <a:ext cx="3756410" cy="1241248"/>
          </a:xfrm>
          <a:custGeom>
            <a:avLst/>
            <a:gdLst/>
            <a:ahLst/>
            <a:cxnLst/>
            <a:rect l="l" t="t" r="r" b="b"/>
            <a:pathLst>
              <a:path w="3756410" h="1241248">
                <a:moveTo>
                  <a:pt x="97997" y="0"/>
                </a:moveTo>
                <a:lnTo>
                  <a:pt x="3658413" y="0"/>
                </a:lnTo>
                <a:cubicBezTo>
                  <a:pt x="3712535" y="0"/>
                  <a:pt x="3756410" y="43875"/>
                  <a:pt x="3756410" y="97997"/>
                </a:cubicBezTo>
                <a:lnTo>
                  <a:pt x="3756410" y="1143252"/>
                </a:lnTo>
                <a:cubicBezTo>
                  <a:pt x="3756410" y="1197374"/>
                  <a:pt x="3712535" y="1241248"/>
                  <a:pt x="3658413" y="1241248"/>
                </a:cubicBezTo>
                <a:lnTo>
                  <a:pt x="97997" y="1241248"/>
                </a:lnTo>
                <a:cubicBezTo>
                  <a:pt x="43875" y="1241248"/>
                  <a:pt x="0" y="1197374"/>
                  <a:pt x="0" y="1143252"/>
                </a:cubicBezTo>
                <a:lnTo>
                  <a:pt x="0" y="97997"/>
                </a:lnTo>
                <a:cubicBezTo>
                  <a:pt x="0" y="43911"/>
                  <a:pt x="43911" y="0"/>
                  <a:pt x="979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58998" y="4213712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661" y="0"/>
                </a:moveTo>
                <a:cubicBezTo>
                  <a:pt x="86350" y="0"/>
                  <a:pt x="90657" y="2584"/>
                  <a:pt x="92889" y="6699"/>
                </a:cubicBezTo>
                <a:lnTo>
                  <a:pt x="161791" y="134294"/>
                </a:lnTo>
                <a:cubicBezTo>
                  <a:pt x="163928" y="138250"/>
                  <a:pt x="163833" y="143034"/>
                  <a:pt x="161536" y="146894"/>
                </a:cubicBezTo>
                <a:cubicBezTo>
                  <a:pt x="159239" y="150754"/>
                  <a:pt x="155060" y="153115"/>
                  <a:pt x="150563" y="153115"/>
                </a:cubicBezTo>
                <a:lnTo>
                  <a:pt x="12760" y="153115"/>
                </a:lnTo>
                <a:cubicBezTo>
                  <a:pt x="8262" y="153115"/>
                  <a:pt x="4115" y="150754"/>
                  <a:pt x="1786" y="146894"/>
                </a:cubicBezTo>
                <a:cubicBezTo>
                  <a:pt x="-542" y="143034"/>
                  <a:pt x="-606" y="138250"/>
                  <a:pt x="1531" y="134294"/>
                </a:cubicBezTo>
                <a:lnTo>
                  <a:pt x="70433" y="6699"/>
                </a:lnTo>
                <a:cubicBezTo>
                  <a:pt x="72666" y="2584"/>
                  <a:pt x="76972" y="0"/>
                  <a:pt x="81661" y="0"/>
                </a:cubicBezTo>
                <a:close/>
                <a:moveTo>
                  <a:pt x="81661" y="53590"/>
                </a:moveTo>
                <a:cubicBezTo>
                  <a:pt x="77419" y="53590"/>
                  <a:pt x="74005" y="57003"/>
                  <a:pt x="74005" y="61246"/>
                </a:cubicBezTo>
                <a:lnTo>
                  <a:pt x="74005" y="96973"/>
                </a:lnTo>
                <a:cubicBezTo>
                  <a:pt x="74005" y="101215"/>
                  <a:pt x="77419" y="104628"/>
                  <a:pt x="81661" y="104628"/>
                </a:cubicBezTo>
                <a:cubicBezTo>
                  <a:pt x="85904" y="104628"/>
                  <a:pt x="89317" y="101215"/>
                  <a:pt x="89317" y="96973"/>
                </a:cubicBezTo>
                <a:lnTo>
                  <a:pt x="89317" y="61246"/>
                </a:lnTo>
                <a:cubicBezTo>
                  <a:pt x="89317" y="57003"/>
                  <a:pt x="85904" y="53590"/>
                  <a:pt x="81661" y="53590"/>
                </a:cubicBezTo>
                <a:close/>
                <a:moveTo>
                  <a:pt x="90178" y="122492"/>
                </a:moveTo>
                <a:cubicBezTo>
                  <a:pt x="90372" y="119330"/>
                  <a:pt x="88795" y="116322"/>
                  <a:pt x="86085" y="114683"/>
                </a:cubicBezTo>
                <a:cubicBezTo>
                  <a:pt x="83375" y="113044"/>
                  <a:pt x="79979" y="113044"/>
                  <a:pt x="77269" y="114683"/>
                </a:cubicBezTo>
                <a:cubicBezTo>
                  <a:pt x="74559" y="116322"/>
                  <a:pt x="72982" y="119330"/>
                  <a:pt x="73176" y="122492"/>
                </a:cubicBezTo>
                <a:cubicBezTo>
                  <a:pt x="72982" y="125653"/>
                  <a:pt x="74559" y="128661"/>
                  <a:pt x="77269" y="130300"/>
                </a:cubicBezTo>
                <a:cubicBezTo>
                  <a:pt x="79979" y="131939"/>
                  <a:pt x="83375" y="131939"/>
                  <a:pt x="86085" y="130300"/>
                </a:cubicBezTo>
                <a:cubicBezTo>
                  <a:pt x="88795" y="128661"/>
                  <a:pt x="90372" y="125653"/>
                  <a:pt x="90178" y="12249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0"/>
          <p:cNvSpPr/>
          <p:nvPr/>
        </p:nvSpPr>
        <p:spPr>
          <a:xfrm>
            <a:off x="8540729" y="4181048"/>
            <a:ext cx="971767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Notable Drop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238583" y="4475027"/>
            <a:ext cx="356042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December 2011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238583" y="4703678"/>
            <a:ext cx="359308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-45%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238583" y="4997658"/>
            <a:ext cx="355225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December 2010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326644" y="5422296"/>
            <a:ext cx="11538711" cy="914604"/>
          </a:xfrm>
          <a:custGeom>
            <a:avLst/>
            <a:gdLst/>
            <a:ahLst/>
            <a:cxnLst/>
            <a:rect l="l" t="t" r="r" b="b"/>
            <a:pathLst>
              <a:path w="11538711" h="914604">
                <a:moveTo>
                  <a:pt x="97991" y="0"/>
                </a:moveTo>
                <a:lnTo>
                  <a:pt x="11440721" y="0"/>
                </a:lnTo>
                <a:cubicBezTo>
                  <a:pt x="11494839" y="0"/>
                  <a:pt x="11538711" y="43872"/>
                  <a:pt x="11538711" y="97991"/>
                </a:cubicBezTo>
                <a:lnTo>
                  <a:pt x="11538711" y="816613"/>
                </a:lnTo>
                <a:cubicBezTo>
                  <a:pt x="11538711" y="870732"/>
                  <a:pt x="11494839" y="914604"/>
                  <a:pt x="11440721" y="914604"/>
                </a:cubicBezTo>
                <a:lnTo>
                  <a:pt x="97991" y="914604"/>
                </a:lnTo>
                <a:cubicBezTo>
                  <a:pt x="43872" y="914604"/>
                  <a:pt x="0" y="870732"/>
                  <a:pt x="0" y="816613"/>
                </a:cubicBezTo>
                <a:lnTo>
                  <a:pt x="0" y="97991"/>
                </a:lnTo>
                <a:cubicBezTo>
                  <a:pt x="0" y="43908"/>
                  <a:pt x="43908" y="0"/>
                  <a:pt x="97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1385" y="5585618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112118" y="146990"/>
                </a:moveTo>
                <a:cubicBezTo>
                  <a:pt x="114912" y="138454"/>
                  <a:pt x="120501" y="130722"/>
                  <a:pt x="126817" y="124061"/>
                </a:cubicBezTo>
                <a:cubicBezTo>
                  <a:pt x="139334" y="110893"/>
                  <a:pt x="146990" y="93094"/>
                  <a:pt x="146990" y="73495"/>
                </a:cubicBezTo>
                <a:cubicBezTo>
                  <a:pt x="146990" y="32920"/>
                  <a:pt x="114070" y="0"/>
                  <a:pt x="73495" y="0"/>
                </a:cubicBezTo>
                <a:cubicBezTo>
                  <a:pt x="32920" y="0"/>
                  <a:pt x="0" y="32920"/>
                  <a:pt x="0" y="73495"/>
                </a:cubicBezTo>
                <a:cubicBezTo>
                  <a:pt x="0" y="93094"/>
                  <a:pt x="7656" y="110893"/>
                  <a:pt x="20173" y="124061"/>
                </a:cubicBezTo>
                <a:cubicBezTo>
                  <a:pt x="26489" y="130722"/>
                  <a:pt x="32116" y="138454"/>
                  <a:pt x="34872" y="146990"/>
                </a:cubicBezTo>
                <a:lnTo>
                  <a:pt x="112080" y="146990"/>
                </a:lnTo>
                <a:close/>
                <a:moveTo>
                  <a:pt x="110242" y="165364"/>
                </a:moveTo>
                <a:lnTo>
                  <a:pt x="36747" y="165364"/>
                </a:lnTo>
                <a:lnTo>
                  <a:pt x="36747" y="171488"/>
                </a:lnTo>
                <a:cubicBezTo>
                  <a:pt x="36747" y="188407"/>
                  <a:pt x="50451" y="202111"/>
                  <a:pt x="67370" y="202111"/>
                </a:cubicBezTo>
                <a:lnTo>
                  <a:pt x="79620" y="202111"/>
                </a:lnTo>
                <a:cubicBezTo>
                  <a:pt x="96539" y="202111"/>
                  <a:pt x="110242" y="188407"/>
                  <a:pt x="110242" y="171488"/>
                </a:cubicBezTo>
                <a:lnTo>
                  <a:pt x="110242" y="165364"/>
                </a:lnTo>
                <a:close/>
                <a:moveTo>
                  <a:pt x="70433" y="42872"/>
                </a:moveTo>
                <a:cubicBezTo>
                  <a:pt x="55198" y="42872"/>
                  <a:pt x="42872" y="55198"/>
                  <a:pt x="42872" y="70433"/>
                </a:cubicBezTo>
                <a:cubicBezTo>
                  <a:pt x="42872" y="75524"/>
                  <a:pt x="38776" y="79620"/>
                  <a:pt x="33685" y="79620"/>
                </a:cubicBezTo>
                <a:cubicBezTo>
                  <a:pt x="28594" y="79620"/>
                  <a:pt x="24498" y="75524"/>
                  <a:pt x="24498" y="70433"/>
                </a:cubicBezTo>
                <a:cubicBezTo>
                  <a:pt x="24498" y="45054"/>
                  <a:pt x="45054" y="24498"/>
                  <a:pt x="70433" y="24498"/>
                </a:cubicBezTo>
                <a:cubicBezTo>
                  <a:pt x="75524" y="24498"/>
                  <a:pt x="79620" y="28594"/>
                  <a:pt x="79620" y="33685"/>
                </a:cubicBezTo>
                <a:cubicBezTo>
                  <a:pt x="79620" y="38776"/>
                  <a:pt x="75524" y="42872"/>
                  <a:pt x="70433" y="4287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0" name="Text 26"/>
          <p:cNvSpPr/>
          <p:nvPr/>
        </p:nvSpPr>
        <p:spPr>
          <a:xfrm>
            <a:off x="740436" y="5552954"/>
            <a:ext cx="11065077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Seasonality Insights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40436" y="5814269"/>
            <a:ext cx="11065077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 exhibits classic retail seasonality with Q4 peaks driven by holiday shopping. The sharp drop in December 2011 suggests data collection ended mid-month. Home décor and gift items dominate top products, indicating strong positioning in the seasonal gifting market. The concentration of top 10 products suggests opportunities for portfolio diversification.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395" y="323395"/>
            <a:ext cx="11601804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b="1" spc="4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3395" y="517432"/>
            <a:ext cx="11690737" cy="32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2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Value Segmentation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3395" y="970186"/>
            <a:ext cx="3759469" cy="937846"/>
          </a:xfrm>
          <a:custGeom>
            <a:avLst/>
            <a:gdLst/>
            <a:ahLst/>
            <a:cxnLst/>
            <a:rect l="l" t="t" r="r" b="b"/>
            <a:pathLst>
              <a:path w="3759469" h="937846">
                <a:moveTo>
                  <a:pt x="97020" y="0"/>
                </a:moveTo>
                <a:lnTo>
                  <a:pt x="3662449" y="0"/>
                </a:lnTo>
                <a:cubicBezTo>
                  <a:pt x="3716032" y="0"/>
                  <a:pt x="3759469" y="43437"/>
                  <a:pt x="3759469" y="97020"/>
                </a:cubicBezTo>
                <a:lnTo>
                  <a:pt x="3759469" y="840826"/>
                </a:lnTo>
                <a:cubicBezTo>
                  <a:pt x="3759469" y="894409"/>
                  <a:pt x="3716032" y="937846"/>
                  <a:pt x="3662449" y="937846"/>
                </a:cubicBezTo>
                <a:lnTo>
                  <a:pt x="97020" y="937846"/>
                </a:lnTo>
                <a:cubicBezTo>
                  <a:pt x="43473" y="937846"/>
                  <a:pt x="0" y="894373"/>
                  <a:pt x="0" y="840826"/>
                </a:cubicBezTo>
                <a:lnTo>
                  <a:pt x="0" y="97020"/>
                </a:lnTo>
                <a:cubicBezTo>
                  <a:pt x="0" y="43437"/>
                  <a:pt x="43437" y="0"/>
                  <a:pt x="970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55" dist="8085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2753" y="1099544"/>
            <a:ext cx="881252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Customers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52774" y="1099544"/>
            <a:ext cx="202122" cy="161698"/>
          </a:xfrm>
          <a:custGeom>
            <a:avLst/>
            <a:gdLst/>
            <a:ahLst/>
            <a:cxnLst/>
            <a:rect l="l" t="t" r="r" b="b"/>
            <a:pathLst>
              <a:path w="202122" h="161698">
                <a:moveTo>
                  <a:pt x="101061" y="5053"/>
                </a:moveTo>
                <a:cubicBezTo>
                  <a:pt x="119189" y="5053"/>
                  <a:pt x="133906" y="19770"/>
                  <a:pt x="133906" y="37898"/>
                </a:cubicBezTo>
                <a:cubicBezTo>
                  <a:pt x="133906" y="56025"/>
                  <a:pt x="119189" y="70743"/>
                  <a:pt x="101061" y="70743"/>
                </a:cubicBezTo>
                <a:cubicBezTo>
                  <a:pt x="82933" y="70743"/>
                  <a:pt x="68216" y="56025"/>
                  <a:pt x="68216" y="37898"/>
                </a:cubicBezTo>
                <a:cubicBezTo>
                  <a:pt x="68216" y="19770"/>
                  <a:pt x="82933" y="5053"/>
                  <a:pt x="101061" y="5053"/>
                </a:cubicBezTo>
                <a:close/>
                <a:moveTo>
                  <a:pt x="30318" y="27792"/>
                </a:moveTo>
                <a:cubicBezTo>
                  <a:pt x="42868" y="27792"/>
                  <a:pt x="53057" y="37981"/>
                  <a:pt x="53057" y="50531"/>
                </a:cubicBezTo>
                <a:cubicBezTo>
                  <a:pt x="53057" y="63080"/>
                  <a:pt x="42868" y="73269"/>
                  <a:pt x="30318" y="73269"/>
                </a:cubicBezTo>
                <a:cubicBezTo>
                  <a:pt x="17768" y="73269"/>
                  <a:pt x="7580" y="63080"/>
                  <a:pt x="7580" y="50531"/>
                </a:cubicBezTo>
                <a:cubicBezTo>
                  <a:pt x="7580" y="37981"/>
                  <a:pt x="17768" y="27792"/>
                  <a:pt x="30318" y="27792"/>
                </a:cubicBezTo>
                <a:close/>
                <a:moveTo>
                  <a:pt x="0" y="131379"/>
                </a:moveTo>
                <a:cubicBezTo>
                  <a:pt x="0" y="109051"/>
                  <a:pt x="18096" y="90955"/>
                  <a:pt x="40424" y="90955"/>
                </a:cubicBezTo>
                <a:cubicBezTo>
                  <a:pt x="44467" y="90955"/>
                  <a:pt x="48383" y="91555"/>
                  <a:pt x="52078" y="92660"/>
                </a:cubicBezTo>
                <a:cubicBezTo>
                  <a:pt x="41688" y="104282"/>
                  <a:pt x="35371" y="119631"/>
                  <a:pt x="35371" y="136432"/>
                </a:cubicBezTo>
                <a:lnTo>
                  <a:pt x="35371" y="141485"/>
                </a:lnTo>
                <a:cubicBezTo>
                  <a:pt x="35371" y="145086"/>
                  <a:pt x="36129" y="148497"/>
                  <a:pt x="37487" y="151592"/>
                </a:cubicBezTo>
                <a:lnTo>
                  <a:pt x="10106" y="151592"/>
                </a:lnTo>
                <a:cubicBezTo>
                  <a:pt x="4516" y="151592"/>
                  <a:pt x="0" y="147075"/>
                  <a:pt x="0" y="141485"/>
                </a:cubicBezTo>
                <a:lnTo>
                  <a:pt x="0" y="131379"/>
                </a:lnTo>
                <a:close/>
                <a:moveTo>
                  <a:pt x="164635" y="151592"/>
                </a:moveTo>
                <a:cubicBezTo>
                  <a:pt x="165993" y="148497"/>
                  <a:pt x="166751" y="145086"/>
                  <a:pt x="166751" y="141485"/>
                </a:cubicBezTo>
                <a:lnTo>
                  <a:pt x="166751" y="136432"/>
                </a:lnTo>
                <a:cubicBezTo>
                  <a:pt x="166751" y="119631"/>
                  <a:pt x="160434" y="104282"/>
                  <a:pt x="150044" y="92660"/>
                </a:cubicBezTo>
                <a:cubicBezTo>
                  <a:pt x="153739" y="91555"/>
                  <a:pt x="157655" y="90955"/>
                  <a:pt x="161698" y="90955"/>
                </a:cubicBezTo>
                <a:cubicBezTo>
                  <a:pt x="184026" y="90955"/>
                  <a:pt x="202122" y="109051"/>
                  <a:pt x="202122" y="131379"/>
                </a:cubicBezTo>
                <a:lnTo>
                  <a:pt x="202122" y="141485"/>
                </a:lnTo>
                <a:cubicBezTo>
                  <a:pt x="202122" y="147075"/>
                  <a:pt x="197606" y="151592"/>
                  <a:pt x="192016" y="151592"/>
                </a:cubicBezTo>
                <a:lnTo>
                  <a:pt x="164635" y="151592"/>
                </a:lnTo>
                <a:close/>
                <a:moveTo>
                  <a:pt x="149065" y="50531"/>
                </a:moveTo>
                <a:cubicBezTo>
                  <a:pt x="149065" y="37981"/>
                  <a:pt x="159254" y="27792"/>
                  <a:pt x="171804" y="27792"/>
                </a:cubicBezTo>
                <a:cubicBezTo>
                  <a:pt x="184354" y="27792"/>
                  <a:pt x="194542" y="37981"/>
                  <a:pt x="194542" y="50531"/>
                </a:cubicBezTo>
                <a:cubicBezTo>
                  <a:pt x="194542" y="63080"/>
                  <a:pt x="184354" y="73269"/>
                  <a:pt x="171804" y="73269"/>
                </a:cubicBezTo>
                <a:cubicBezTo>
                  <a:pt x="159254" y="73269"/>
                  <a:pt x="149065" y="63080"/>
                  <a:pt x="149065" y="50531"/>
                </a:cubicBezTo>
                <a:close/>
                <a:moveTo>
                  <a:pt x="50531" y="136432"/>
                </a:moveTo>
                <a:cubicBezTo>
                  <a:pt x="50531" y="108514"/>
                  <a:pt x="73143" y="85902"/>
                  <a:pt x="101061" y="85902"/>
                </a:cubicBezTo>
                <a:cubicBezTo>
                  <a:pt x="128979" y="85902"/>
                  <a:pt x="151592" y="108514"/>
                  <a:pt x="151592" y="136432"/>
                </a:cubicBezTo>
                <a:lnTo>
                  <a:pt x="151592" y="141485"/>
                </a:lnTo>
                <a:cubicBezTo>
                  <a:pt x="151592" y="147075"/>
                  <a:pt x="147075" y="151592"/>
                  <a:pt x="141485" y="151592"/>
                </a:cubicBezTo>
                <a:lnTo>
                  <a:pt x="60637" y="151592"/>
                </a:lnTo>
                <a:cubicBezTo>
                  <a:pt x="55047" y="151592"/>
                  <a:pt x="50531" y="147075"/>
                  <a:pt x="50531" y="141485"/>
                </a:cubicBezTo>
                <a:lnTo>
                  <a:pt x="50531" y="13643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452753" y="1325920"/>
            <a:ext cx="3622027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5,878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2753" y="1616976"/>
            <a:ext cx="3557347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valid Customer 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13612" y="970186"/>
            <a:ext cx="3759469" cy="937846"/>
          </a:xfrm>
          <a:custGeom>
            <a:avLst/>
            <a:gdLst/>
            <a:ahLst/>
            <a:cxnLst/>
            <a:rect l="l" t="t" r="r" b="b"/>
            <a:pathLst>
              <a:path w="3759469" h="937846">
                <a:moveTo>
                  <a:pt x="97020" y="0"/>
                </a:moveTo>
                <a:lnTo>
                  <a:pt x="3662449" y="0"/>
                </a:lnTo>
                <a:cubicBezTo>
                  <a:pt x="3716032" y="0"/>
                  <a:pt x="3759469" y="43437"/>
                  <a:pt x="3759469" y="97020"/>
                </a:cubicBezTo>
                <a:lnTo>
                  <a:pt x="3759469" y="840826"/>
                </a:lnTo>
                <a:cubicBezTo>
                  <a:pt x="3759469" y="894409"/>
                  <a:pt x="3716032" y="937846"/>
                  <a:pt x="3662449" y="937846"/>
                </a:cubicBezTo>
                <a:lnTo>
                  <a:pt x="97020" y="937846"/>
                </a:lnTo>
                <a:cubicBezTo>
                  <a:pt x="43473" y="937846"/>
                  <a:pt x="0" y="894373"/>
                  <a:pt x="0" y="840826"/>
                </a:cubicBezTo>
                <a:lnTo>
                  <a:pt x="0" y="97020"/>
                </a:lnTo>
                <a:cubicBezTo>
                  <a:pt x="0" y="43437"/>
                  <a:pt x="43437" y="0"/>
                  <a:pt x="970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55" dist="8085" dir="5400000">
              <a:srgbClr val="000000">
                <a:alpha val="10196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2970" y="1099544"/>
            <a:ext cx="1131883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Spend/Customer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3542" y="1099544"/>
            <a:ext cx="121273" cy="161698"/>
          </a:xfrm>
          <a:custGeom>
            <a:avLst/>
            <a:gdLst/>
            <a:ahLst/>
            <a:cxnLst/>
            <a:rect l="l" t="t" r="r" b="b"/>
            <a:pathLst>
              <a:path w="121273" h="161698">
                <a:moveTo>
                  <a:pt x="28834" y="90955"/>
                </a:moveTo>
                <a:lnTo>
                  <a:pt x="17844" y="90955"/>
                </a:lnTo>
                <a:cubicBezTo>
                  <a:pt x="13643" y="90955"/>
                  <a:pt x="10264" y="87576"/>
                  <a:pt x="10264" y="83375"/>
                </a:cubicBezTo>
                <a:cubicBezTo>
                  <a:pt x="10264" y="79175"/>
                  <a:pt x="13643" y="75796"/>
                  <a:pt x="17844" y="75796"/>
                </a:cubicBezTo>
                <a:lnTo>
                  <a:pt x="24602" y="75796"/>
                </a:lnTo>
                <a:cubicBezTo>
                  <a:pt x="11780" y="46520"/>
                  <a:pt x="33192" y="13264"/>
                  <a:pt x="65563" y="13264"/>
                </a:cubicBezTo>
                <a:lnTo>
                  <a:pt x="68153" y="13264"/>
                </a:lnTo>
                <a:cubicBezTo>
                  <a:pt x="78764" y="13264"/>
                  <a:pt x="89060" y="16833"/>
                  <a:pt x="97366" y="23434"/>
                </a:cubicBezTo>
                <a:lnTo>
                  <a:pt x="102451" y="27444"/>
                </a:lnTo>
                <a:cubicBezTo>
                  <a:pt x="106840" y="30918"/>
                  <a:pt x="107567" y="37266"/>
                  <a:pt x="104093" y="41656"/>
                </a:cubicBezTo>
                <a:cubicBezTo>
                  <a:pt x="100619" y="46046"/>
                  <a:pt x="94271" y="46772"/>
                  <a:pt x="89881" y="43298"/>
                </a:cubicBezTo>
                <a:lnTo>
                  <a:pt x="84797" y="39287"/>
                </a:lnTo>
                <a:cubicBezTo>
                  <a:pt x="80059" y="35529"/>
                  <a:pt x="74185" y="33476"/>
                  <a:pt x="68121" y="33476"/>
                </a:cubicBezTo>
                <a:lnTo>
                  <a:pt x="65532" y="33476"/>
                </a:lnTo>
                <a:cubicBezTo>
                  <a:pt x="47436" y="33476"/>
                  <a:pt x="35624" y="52394"/>
                  <a:pt x="43519" y="68658"/>
                </a:cubicBezTo>
                <a:cubicBezTo>
                  <a:pt x="44656" y="70995"/>
                  <a:pt x="45604" y="73364"/>
                  <a:pt x="46393" y="75796"/>
                </a:cubicBezTo>
                <a:lnTo>
                  <a:pt x="93608" y="75796"/>
                </a:lnTo>
                <a:cubicBezTo>
                  <a:pt x="97808" y="75796"/>
                  <a:pt x="101187" y="79175"/>
                  <a:pt x="101187" y="83375"/>
                </a:cubicBezTo>
                <a:cubicBezTo>
                  <a:pt x="101187" y="87576"/>
                  <a:pt x="97808" y="90955"/>
                  <a:pt x="93608" y="90955"/>
                </a:cubicBezTo>
                <a:lnTo>
                  <a:pt x="49015" y="90955"/>
                </a:lnTo>
                <a:cubicBezTo>
                  <a:pt x="49330" y="102103"/>
                  <a:pt x="46267" y="113251"/>
                  <a:pt x="39888" y="122821"/>
                </a:cubicBezTo>
                <a:lnTo>
                  <a:pt x="34171" y="131379"/>
                </a:lnTo>
                <a:lnTo>
                  <a:pt x="101187" y="131379"/>
                </a:lnTo>
                <a:cubicBezTo>
                  <a:pt x="106777" y="131379"/>
                  <a:pt x="111293" y="135895"/>
                  <a:pt x="111293" y="141485"/>
                </a:cubicBezTo>
                <a:cubicBezTo>
                  <a:pt x="111293" y="147075"/>
                  <a:pt x="106777" y="151592"/>
                  <a:pt x="101187" y="151592"/>
                </a:cubicBezTo>
                <a:lnTo>
                  <a:pt x="15285" y="151592"/>
                </a:lnTo>
                <a:cubicBezTo>
                  <a:pt x="11559" y="151592"/>
                  <a:pt x="8148" y="149539"/>
                  <a:pt x="6379" y="146254"/>
                </a:cubicBezTo>
                <a:cubicBezTo>
                  <a:pt x="4611" y="142970"/>
                  <a:pt x="4800" y="138990"/>
                  <a:pt x="6885" y="135864"/>
                </a:cubicBezTo>
                <a:lnTo>
                  <a:pt x="23055" y="111609"/>
                </a:lnTo>
                <a:cubicBezTo>
                  <a:pt x="27192" y="105419"/>
                  <a:pt x="29118" y="98156"/>
                  <a:pt x="28802" y="9095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2970" y="1325920"/>
            <a:ext cx="3622027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£3,440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2970" y="1616976"/>
            <a:ext cx="3557347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total spend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3956" y="970186"/>
            <a:ext cx="3759469" cy="937846"/>
          </a:xfrm>
          <a:custGeom>
            <a:avLst/>
            <a:gdLst/>
            <a:ahLst/>
            <a:cxnLst/>
            <a:rect l="l" t="t" r="r" b="b"/>
            <a:pathLst>
              <a:path w="3759469" h="937846">
                <a:moveTo>
                  <a:pt x="97020" y="0"/>
                </a:moveTo>
                <a:lnTo>
                  <a:pt x="3662449" y="0"/>
                </a:lnTo>
                <a:cubicBezTo>
                  <a:pt x="3716032" y="0"/>
                  <a:pt x="3759469" y="43437"/>
                  <a:pt x="3759469" y="97020"/>
                </a:cubicBezTo>
                <a:lnTo>
                  <a:pt x="3759469" y="840826"/>
                </a:lnTo>
                <a:cubicBezTo>
                  <a:pt x="3759469" y="894409"/>
                  <a:pt x="3716032" y="937846"/>
                  <a:pt x="3662449" y="937846"/>
                </a:cubicBezTo>
                <a:lnTo>
                  <a:pt x="97020" y="937846"/>
                </a:lnTo>
                <a:cubicBezTo>
                  <a:pt x="43473" y="937846"/>
                  <a:pt x="0" y="894373"/>
                  <a:pt x="0" y="840826"/>
                </a:cubicBezTo>
                <a:lnTo>
                  <a:pt x="0" y="97020"/>
                </a:lnTo>
                <a:cubicBezTo>
                  <a:pt x="0" y="43437"/>
                  <a:pt x="43437" y="0"/>
                  <a:pt x="970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55" dist="8085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33314" y="1099544"/>
            <a:ext cx="776149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 Spend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553547" y="1099544"/>
            <a:ext cx="161698" cy="161698"/>
          </a:xfrm>
          <a:custGeom>
            <a:avLst/>
            <a:gdLst/>
            <a:ahLst/>
            <a:cxnLst/>
            <a:rect l="l" t="t" r="r" b="b"/>
            <a:pathLst>
              <a:path w="161698" h="161698">
                <a:moveTo>
                  <a:pt x="10106" y="10106"/>
                </a:moveTo>
                <a:cubicBezTo>
                  <a:pt x="15696" y="10106"/>
                  <a:pt x="20212" y="14622"/>
                  <a:pt x="20212" y="20212"/>
                </a:cubicBezTo>
                <a:lnTo>
                  <a:pt x="20212" y="126326"/>
                </a:lnTo>
                <a:cubicBezTo>
                  <a:pt x="20212" y="129105"/>
                  <a:pt x="22486" y="131379"/>
                  <a:pt x="25265" y="131379"/>
                </a:cubicBezTo>
                <a:lnTo>
                  <a:pt x="151592" y="131379"/>
                </a:lnTo>
                <a:cubicBezTo>
                  <a:pt x="157181" y="131379"/>
                  <a:pt x="161698" y="135895"/>
                  <a:pt x="161698" y="141485"/>
                </a:cubicBezTo>
                <a:cubicBezTo>
                  <a:pt x="161698" y="147075"/>
                  <a:pt x="157181" y="151592"/>
                  <a:pt x="151592" y="151592"/>
                </a:cubicBezTo>
                <a:lnTo>
                  <a:pt x="25265" y="151592"/>
                </a:lnTo>
                <a:cubicBezTo>
                  <a:pt x="11306" y="151592"/>
                  <a:pt x="0" y="140285"/>
                  <a:pt x="0" y="126326"/>
                </a:cubicBezTo>
                <a:lnTo>
                  <a:pt x="0" y="20212"/>
                </a:lnTo>
                <a:cubicBezTo>
                  <a:pt x="0" y="14622"/>
                  <a:pt x="4516" y="10106"/>
                  <a:pt x="10106" y="10106"/>
                </a:cubicBezTo>
                <a:close/>
                <a:moveTo>
                  <a:pt x="40424" y="30318"/>
                </a:moveTo>
                <a:cubicBezTo>
                  <a:pt x="40424" y="24728"/>
                  <a:pt x="44941" y="20212"/>
                  <a:pt x="50531" y="20212"/>
                </a:cubicBezTo>
                <a:lnTo>
                  <a:pt x="111167" y="20212"/>
                </a:lnTo>
                <a:cubicBezTo>
                  <a:pt x="116757" y="20212"/>
                  <a:pt x="121273" y="24728"/>
                  <a:pt x="121273" y="30318"/>
                </a:cubicBezTo>
                <a:cubicBezTo>
                  <a:pt x="121273" y="35908"/>
                  <a:pt x="116757" y="40424"/>
                  <a:pt x="111167" y="40424"/>
                </a:cubicBezTo>
                <a:lnTo>
                  <a:pt x="50531" y="40424"/>
                </a:lnTo>
                <a:cubicBezTo>
                  <a:pt x="44941" y="40424"/>
                  <a:pt x="40424" y="35908"/>
                  <a:pt x="40424" y="30318"/>
                </a:cubicBezTo>
                <a:close/>
                <a:moveTo>
                  <a:pt x="50531" y="55584"/>
                </a:moveTo>
                <a:lnTo>
                  <a:pt x="90955" y="55584"/>
                </a:lnTo>
                <a:cubicBezTo>
                  <a:pt x="96545" y="55584"/>
                  <a:pt x="101061" y="60100"/>
                  <a:pt x="101061" y="65690"/>
                </a:cubicBezTo>
                <a:cubicBezTo>
                  <a:pt x="101061" y="71280"/>
                  <a:pt x="96545" y="75796"/>
                  <a:pt x="90955" y="75796"/>
                </a:cubicBezTo>
                <a:lnTo>
                  <a:pt x="50531" y="75796"/>
                </a:lnTo>
                <a:cubicBezTo>
                  <a:pt x="44941" y="75796"/>
                  <a:pt x="40424" y="71280"/>
                  <a:pt x="40424" y="65690"/>
                </a:cubicBezTo>
                <a:cubicBezTo>
                  <a:pt x="40424" y="60100"/>
                  <a:pt x="44941" y="55584"/>
                  <a:pt x="50531" y="55584"/>
                </a:cubicBezTo>
                <a:close/>
                <a:moveTo>
                  <a:pt x="50531" y="90955"/>
                </a:moveTo>
                <a:lnTo>
                  <a:pt x="131379" y="90955"/>
                </a:lnTo>
                <a:cubicBezTo>
                  <a:pt x="136969" y="90955"/>
                  <a:pt x="141485" y="95471"/>
                  <a:pt x="141485" y="101061"/>
                </a:cubicBezTo>
                <a:cubicBezTo>
                  <a:pt x="141485" y="106651"/>
                  <a:pt x="136969" y="111167"/>
                  <a:pt x="131379" y="111167"/>
                </a:cubicBezTo>
                <a:lnTo>
                  <a:pt x="50531" y="111167"/>
                </a:lnTo>
                <a:cubicBezTo>
                  <a:pt x="44941" y="111167"/>
                  <a:pt x="40424" y="106651"/>
                  <a:pt x="40424" y="101061"/>
                </a:cubicBezTo>
                <a:cubicBezTo>
                  <a:pt x="40424" y="95471"/>
                  <a:pt x="44941" y="90955"/>
                  <a:pt x="50531" y="9095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8233314" y="1325920"/>
            <a:ext cx="3622027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£1,662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3314" y="1616976"/>
            <a:ext cx="3557347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representative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395" y="2037390"/>
            <a:ext cx="5707926" cy="3072255"/>
          </a:xfrm>
          <a:custGeom>
            <a:avLst/>
            <a:gdLst/>
            <a:ahLst/>
            <a:cxnLst/>
            <a:rect l="l" t="t" r="r" b="b"/>
            <a:pathLst>
              <a:path w="5707926" h="3072255">
                <a:moveTo>
                  <a:pt x="97022" y="0"/>
                </a:moveTo>
                <a:lnTo>
                  <a:pt x="5610904" y="0"/>
                </a:lnTo>
                <a:cubicBezTo>
                  <a:pt x="5664488" y="0"/>
                  <a:pt x="5707926" y="43438"/>
                  <a:pt x="5707926" y="97022"/>
                </a:cubicBezTo>
                <a:lnTo>
                  <a:pt x="5707926" y="2975233"/>
                </a:lnTo>
                <a:cubicBezTo>
                  <a:pt x="5707926" y="3028817"/>
                  <a:pt x="5664488" y="3072255"/>
                  <a:pt x="5610904" y="3072255"/>
                </a:cubicBezTo>
                <a:lnTo>
                  <a:pt x="97022" y="3072255"/>
                </a:lnTo>
                <a:cubicBezTo>
                  <a:pt x="43438" y="3072255"/>
                  <a:pt x="0" y="3028817"/>
                  <a:pt x="0" y="2975233"/>
                </a:cubicBezTo>
                <a:lnTo>
                  <a:pt x="0" y="97022"/>
                </a:lnTo>
                <a:cubicBezTo>
                  <a:pt x="0" y="43474"/>
                  <a:pt x="43474" y="0"/>
                  <a:pt x="970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55" dist="8085" dir="540000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5093" y="2199088"/>
            <a:ext cx="5465379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Spend Distribution</a:t>
            </a:r>
            <a:endParaRPr lang="en-US" sz="1600" dirty="0"/>
          </a:p>
        </p:txBody>
      </p:sp>
      <p:pic>
        <p:nvPicPr>
          <p:cNvPr id="21" name="Image 0" descr="https://kimi-img.moonshot.cn/pub/slides/26-03-01-16:07:41-d6hv7jcomnm0aj9cbep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093" y="2522483"/>
            <a:ext cx="4462854" cy="2425464"/>
          </a:xfrm>
          <a:prstGeom prst="roundRect">
            <a:avLst>
              <a:gd name="adj" fmla="val 0"/>
            </a:avLst>
          </a:prstGeom>
        </p:spPr>
      </p:pic>
      <p:sp>
        <p:nvSpPr>
          <p:cNvPr id="22" name="Shape 19"/>
          <p:cNvSpPr/>
          <p:nvPr/>
        </p:nvSpPr>
        <p:spPr>
          <a:xfrm>
            <a:off x="6158784" y="2037390"/>
            <a:ext cx="5707926" cy="3072255"/>
          </a:xfrm>
          <a:custGeom>
            <a:avLst/>
            <a:gdLst/>
            <a:ahLst/>
            <a:cxnLst/>
            <a:rect l="l" t="t" r="r" b="b"/>
            <a:pathLst>
              <a:path w="5707926" h="3072255">
                <a:moveTo>
                  <a:pt x="97022" y="0"/>
                </a:moveTo>
                <a:lnTo>
                  <a:pt x="5610904" y="0"/>
                </a:lnTo>
                <a:cubicBezTo>
                  <a:pt x="5664488" y="0"/>
                  <a:pt x="5707926" y="43438"/>
                  <a:pt x="5707926" y="97022"/>
                </a:cubicBezTo>
                <a:lnTo>
                  <a:pt x="5707926" y="2975233"/>
                </a:lnTo>
                <a:cubicBezTo>
                  <a:pt x="5707926" y="3028817"/>
                  <a:pt x="5664488" y="3072255"/>
                  <a:pt x="5610904" y="3072255"/>
                </a:cubicBezTo>
                <a:lnTo>
                  <a:pt x="97022" y="3072255"/>
                </a:lnTo>
                <a:cubicBezTo>
                  <a:pt x="43438" y="3072255"/>
                  <a:pt x="0" y="3028817"/>
                  <a:pt x="0" y="2975233"/>
                </a:cubicBezTo>
                <a:lnTo>
                  <a:pt x="0" y="97022"/>
                </a:lnTo>
                <a:cubicBezTo>
                  <a:pt x="0" y="43474"/>
                  <a:pt x="43474" y="0"/>
                  <a:pt x="970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255" dist="8085" dir="5400000">
              <a:srgbClr val="000000">
                <a:alpha val="10196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320482" y="2199088"/>
            <a:ext cx="5465379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3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Revenue Contribution by Segment</a:t>
            </a:r>
            <a:endParaRPr lang="en-US" sz="1600" dirty="0"/>
          </a:p>
        </p:txBody>
      </p:sp>
      <p:pic>
        <p:nvPicPr>
          <p:cNvPr id="24" name="Image 1" descr="https://kimi-img.moonshot.cn/pub/slides/26-03-01-16:07:41-d6hv7jcnvj4r3rh54rj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0482" y="2522483"/>
            <a:ext cx="4462854" cy="2425464"/>
          </a:xfrm>
          <a:prstGeom prst="roundRect">
            <a:avLst>
              <a:gd name="adj" fmla="val 0"/>
            </a:avLst>
          </a:prstGeom>
        </p:spPr>
      </p:pic>
      <p:sp>
        <p:nvSpPr>
          <p:cNvPr id="25" name="Shape 21"/>
          <p:cNvSpPr/>
          <p:nvPr/>
        </p:nvSpPr>
        <p:spPr>
          <a:xfrm>
            <a:off x="339565" y="5239003"/>
            <a:ext cx="3743300" cy="1293581"/>
          </a:xfrm>
          <a:custGeom>
            <a:avLst/>
            <a:gdLst/>
            <a:ahLst/>
            <a:cxnLst/>
            <a:rect l="l" t="t" r="r" b="b"/>
            <a:pathLst>
              <a:path w="3743300" h="1293581">
                <a:moveTo>
                  <a:pt x="32340" y="0"/>
                </a:moveTo>
                <a:lnTo>
                  <a:pt x="3646281" y="0"/>
                </a:lnTo>
                <a:cubicBezTo>
                  <a:pt x="3699863" y="0"/>
                  <a:pt x="3743300" y="43437"/>
                  <a:pt x="3743300" y="97019"/>
                </a:cubicBezTo>
                <a:lnTo>
                  <a:pt x="3743300" y="1196562"/>
                </a:lnTo>
                <a:cubicBezTo>
                  <a:pt x="3743300" y="1250144"/>
                  <a:pt x="3699863" y="1293581"/>
                  <a:pt x="3646281" y="1293581"/>
                </a:cubicBezTo>
                <a:lnTo>
                  <a:pt x="32340" y="1293581"/>
                </a:lnTo>
                <a:cubicBezTo>
                  <a:pt x="14479" y="1293581"/>
                  <a:pt x="0" y="1279102"/>
                  <a:pt x="0" y="1261241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339565" y="5239003"/>
            <a:ext cx="32340" cy="1293581"/>
          </a:xfrm>
          <a:custGeom>
            <a:avLst/>
            <a:gdLst/>
            <a:ahLst/>
            <a:cxnLst/>
            <a:rect l="l" t="t" r="r" b="b"/>
            <a:pathLst>
              <a:path w="32340" h="1293581">
                <a:moveTo>
                  <a:pt x="32340" y="0"/>
                </a:moveTo>
                <a:lnTo>
                  <a:pt x="32340" y="0"/>
                </a:lnTo>
                <a:lnTo>
                  <a:pt x="32340" y="1293581"/>
                </a:lnTo>
                <a:lnTo>
                  <a:pt x="32340" y="1293581"/>
                </a:lnTo>
                <a:cubicBezTo>
                  <a:pt x="14479" y="1293581"/>
                  <a:pt x="0" y="1279102"/>
                  <a:pt x="0" y="1261241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3"/>
          <p:cNvSpPr/>
          <p:nvPr/>
        </p:nvSpPr>
        <p:spPr>
          <a:xfrm>
            <a:off x="485093" y="5368361"/>
            <a:ext cx="792318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High Value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3572001" y="5368361"/>
            <a:ext cx="477008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33%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85093" y="5691756"/>
            <a:ext cx="3589687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86.9%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85093" y="6015151"/>
            <a:ext cx="352500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total revenue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485093" y="6241528"/>
            <a:ext cx="352500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1,960 customers with highest lifetime value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4229782" y="5239003"/>
            <a:ext cx="3743300" cy="1293581"/>
          </a:xfrm>
          <a:custGeom>
            <a:avLst/>
            <a:gdLst/>
            <a:ahLst/>
            <a:cxnLst/>
            <a:rect l="l" t="t" r="r" b="b"/>
            <a:pathLst>
              <a:path w="3743300" h="1293581">
                <a:moveTo>
                  <a:pt x="32340" y="0"/>
                </a:moveTo>
                <a:lnTo>
                  <a:pt x="3646281" y="0"/>
                </a:lnTo>
                <a:cubicBezTo>
                  <a:pt x="3699863" y="0"/>
                  <a:pt x="3743300" y="43437"/>
                  <a:pt x="3743300" y="97019"/>
                </a:cubicBezTo>
                <a:lnTo>
                  <a:pt x="3743300" y="1196562"/>
                </a:lnTo>
                <a:cubicBezTo>
                  <a:pt x="3743300" y="1250144"/>
                  <a:pt x="3699863" y="1293581"/>
                  <a:pt x="3646281" y="1293581"/>
                </a:cubicBezTo>
                <a:lnTo>
                  <a:pt x="32340" y="1293581"/>
                </a:lnTo>
                <a:cubicBezTo>
                  <a:pt x="14479" y="1293581"/>
                  <a:pt x="0" y="1279102"/>
                  <a:pt x="0" y="1261241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33" name="Shape 29"/>
          <p:cNvSpPr/>
          <p:nvPr/>
        </p:nvSpPr>
        <p:spPr>
          <a:xfrm>
            <a:off x="4229782" y="5239003"/>
            <a:ext cx="32340" cy="1293581"/>
          </a:xfrm>
          <a:custGeom>
            <a:avLst/>
            <a:gdLst/>
            <a:ahLst/>
            <a:cxnLst/>
            <a:rect l="l" t="t" r="r" b="b"/>
            <a:pathLst>
              <a:path w="32340" h="1293581">
                <a:moveTo>
                  <a:pt x="32340" y="0"/>
                </a:moveTo>
                <a:lnTo>
                  <a:pt x="32340" y="0"/>
                </a:lnTo>
                <a:lnTo>
                  <a:pt x="32340" y="1293581"/>
                </a:lnTo>
                <a:lnTo>
                  <a:pt x="32340" y="1293581"/>
                </a:lnTo>
                <a:cubicBezTo>
                  <a:pt x="14479" y="1293581"/>
                  <a:pt x="0" y="1279102"/>
                  <a:pt x="0" y="1261241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6E6E73"/>
          </a:solidFill>
          <a:ln/>
        </p:spPr>
      </p:sp>
      <p:sp>
        <p:nvSpPr>
          <p:cNvPr id="34" name="Text 30"/>
          <p:cNvSpPr/>
          <p:nvPr/>
        </p:nvSpPr>
        <p:spPr>
          <a:xfrm>
            <a:off x="4375310" y="5368361"/>
            <a:ext cx="727639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Mid Value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462345" y="5368361"/>
            <a:ext cx="477008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33%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4375310" y="5691756"/>
            <a:ext cx="3589687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10.3%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4375310" y="6015151"/>
            <a:ext cx="352500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total revenue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4375310" y="6241528"/>
            <a:ext cx="352500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1,958 customers with growth potential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8120126" y="5239003"/>
            <a:ext cx="3743300" cy="1293581"/>
          </a:xfrm>
          <a:custGeom>
            <a:avLst/>
            <a:gdLst/>
            <a:ahLst/>
            <a:cxnLst/>
            <a:rect l="l" t="t" r="r" b="b"/>
            <a:pathLst>
              <a:path w="3743300" h="1293581">
                <a:moveTo>
                  <a:pt x="32340" y="0"/>
                </a:moveTo>
                <a:lnTo>
                  <a:pt x="3646281" y="0"/>
                </a:lnTo>
                <a:cubicBezTo>
                  <a:pt x="3699863" y="0"/>
                  <a:pt x="3743300" y="43437"/>
                  <a:pt x="3743300" y="97019"/>
                </a:cubicBezTo>
                <a:lnTo>
                  <a:pt x="3743300" y="1196562"/>
                </a:lnTo>
                <a:cubicBezTo>
                  <a:pt x="3743300" y="1250144"/>
                  <a:pt x="3699863" y="1293581"/>
                  <a:pt x="3646281" y="1293581"/>
                </a:cubicBezTo>
                <a:lnTo>
                  <a:pt x="32340" y="1293581"/>
                </a:lnTo>
                <a:cubicBezTo>
                  <a:pt x="14479" y="1293581"/>
                  <a:pt x="0" y="1279102"/>
                  <a:pt x="0" y="1261241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40" name="Shape 36"/>
          <p:cNvSpPr/>
          <p:nvPr/>
        </p:nvSpPr>
        <p:spPr>
          <a:xfrm>
            <a:off x="8120126" y="5239003"/>
            <a:ext cx="32340" cy="1293581"/>
          </a:xfrm>
          <a:custGeom>
            <a:avLst/>
            <a:gdLst/>
            <a:ahLst/>
            <a:cxnLst/>
            <a:rect l="l" t="t" r="r" b="b"/>
            <a:pathLst>
              <a:path w="32340" h="1293581">
                <a:moveTo>
                  <a:pt x="32340" y="0"/>
                </a:moveTo>
                <a:lnTo>
                  <a:pt x="32340" y="0"/>
                </a:lnTo>
                <a:lnTo>
                  <a:pt x="32340" y="1293581"/>
                </a:lnTo>
                <a:lnTo>
                  <a:pt x="32340" y="1293581"/>
                </a:lnTo>
                <a:cubicBezTo>
                  <a:pt x="14479" y="1293581"/>
                  <a:pt x="0" y="1279102"/>
                  <a:pt x="0" y="1261241"/>
                </a:cubicBezTo>
                <a:lnTo>
                  <a:pt x="0" y="32340"/>
                </a:lnTo>
                <a:cubicBezTo>
                  <a:pt x="0" y="14491"/>
                  <a:pt x="14491" y="0"/>
                  <a:pt x="32340" y="0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41" name="Text 37"/>
          <p:cNvSpPr/>
          <p:nvPr/>
        </p:nvSpPr>
        <p:spPr>
          <a:xfrm>
            <a:off x="8265654" y="5368361"/>
            <a:ext cx="743809" cy="22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Low Value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11352562" y="5368361"/>
            <a:ext cx="477008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8" b="1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33%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8265654" y="5691756"/>
            <a:ext cx="3589687" cy="2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2.7%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8265654" y="6015151"/>
            <a:ext cx="352500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total revenue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8265654" y="6241528"/>
            <a:ext cx="3525008" cy="161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1,960 customers requiring activation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Segmentation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080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RFM Customer Segmentation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889000"/>
            <a:ext cx="11557000" cy="571500"/>
          </a:xfrm>
          <a:custGeom>
            <a:avLst/>
            <a:gdLst/>
            <a:ahLst/>
            <a:cxnLst/>
            <a:rect l="l" t="t" r="r" b="b"/>
            <a:pathLst>
              <a:path w="11557000" h="571500">
                <a:moveTo>
                  <a:pt x="95252" y="0"/>
                </a:moveTo>
                <a:lnTo>
                  <a:pt x="11461748" y="0"/>
                </a:lnTo>
                <a:cubicBezTo>
                  <a:pt x="11514354" y="0"/>
                  <a:pt x="11557000" y="42646"/>
                  <a:pt x="11557000" y="95252"/>
                </a:cubicBezTo>
                <a:lnTo>
                  <a:pt x="11557000" y="476248"/>
                </a:lnTo>
                <a:cubicBezTo>
                  <a:pt x="11557000" y="528854"/>
                  <a:pt x="11514354" y="571500"/>
                  <a:pt x="11461748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969" y="984250"/>
            <a:ext cx="376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(R)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174750"/>
            <a:ext cx="377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Days since last purchase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16053" y="984250"/>
            <a:ext cx="376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Frequency (F)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12084" y="1174750"/>
            <a:ext cx="377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number of orders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7261" y="984250"/>
            <a:ext cx="376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Monetary (M)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3292" y="1174750"/>
            <a:ext cx="377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spend amount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7500" y="1524000"/>
            <a:ext cx="5715000" cy="2476500"/>
          </a:xfrm>
          <a:custGeom>
            <a:avLst/>
            <a:gdLst/>
            <a:ahLst/>
            <a:cxnLst/>
            <a:rect l="l" t="t" r="r" b="b"/>
            <a:pathLst>
              <a:path w="5715000" h="2476500">
                <a:moveTo>
                  <a:pt x="95246" y="0"/>
                </a:moveTo>
                <a:lnTo>
                  <a:pt x="5619754" y="0"/>
                </a:lnTo>
                <a:cubicBezTo>
                  <a:pt x="5672357" y="0"/>
                  <a:pt x="5715000" y="42643"/>
                  <a:pt x="5715000" y="95246"/>
                </a:cubicBezTo>
                <a:lnTo>
                  <a:pt x="5715000" y="2381254"/>
                </a:lnTo>
                <a:cubicBezTo>
                  <a:pt x="5715000" y="2433857"/>
                  <a:pt x="5672357" y="2476500"/>
                  <a:pt x="5619754" y="2476500"/>
                </a:cubicBezTo>
                <a:lnTo>
                  <a:pt x="95246" y="2476500"/>
                </a:lnTo>
                <a:cubicBezTo>
                  <a:pt x="42643" y="2476500"/>
                  <a:pt x="0" y="2433857"/>
                  <a:pt x="0" y="2381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4500" y="1651000"/>
            <a:ext cx="554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Segments by Count</a:t>
            </a:r>
            <a:endParaRPr lang="en-US" sz="1600" dirty="0"/>
          </a:p>
        </p:txBody>
      </p:sp>
      <p:pic>
        <p:nvPicPr>
          <p:cNvPr id="13" name="Image 0" descr="https://kimi-img.moonshot.cn/pub/slides/26-03-01-16:07:41-d6hv7jfgt7effd1oc8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4500" y="1968500"/>
            <a:ext cx="444500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14" name="Shape 11"/>
          <p:cNvSpPr/>
          <p:nvPr/>
        </p:nvSpPr>
        <p:spPr>
          <a:xfrm>
            <a:off x="6159500" y="1524000"/>
            <a:ext cx="5715000" cy="2476500"/>
          </a:xfrm>
          <a:custGeom>
            <a:avLst/>
            <a:gdLst/>
            <a:ahLst/>
            <a:cxnLst/>
            <a:rect l="l" t="t" r="r" b="b"/>
            <a:pathLst>
              <a:path w="5715000" h="2476500">
                <a:moveTo>
                  <a:pt x="95246" y="0"/>
                </a:moveTo>
                <a:lnTo>
                  <a:pt x="5619754" y="0"/>
                </a:lnTo>
                <a:cubicBezTo>
                  <a:pt x="5672357" y="0"/>
                  <a:pt x="5715000" y="42643"/>
                  <a:pt x="5715000" y="95246"/>
                </a:cubicBezTo>
                <a:lnTo>
                  <a:pt x="5715000" y="2381254"/>
                </a:lnTo>
                <a:cubicBezTo>
                  <a:pt x="5715000" y="2433857"/>
                  <a:pt x="5672357" y="2476500"/>
                  <a:pt x="5619754" y="2476500"/>
                </a:cubicBezTo>
                <a:lnTo>
                  <a:pt x="95246" y="2476500"/>
                </a:lnTo>
                <a:cubicBezTo>
                  <a:pt x="42643" y="2476500"/>
                  <a:pt x="0" y="2433857"/>
                  <a:pt x="0" y="238125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86500" y="1651000"/>
            <a:ext cx="554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Revenue Contribution by Segment</a:t>
            </a:r>
            <a:endParaRPr lang="en-US" sz="1600" dirty="0"/>
          </a:p>
        </p:txBody>
      </p:sp>
      <p:pic>
        <p:nvPicPr>
          <p:cNvPr id="16" name="Image 1" descr="https://kimi-img.moonshot.cn/pub/slides/26-03-01-16:07:42-d6hv7ji5hvlh8v7es53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86500" y="1968500"/>
            <a:ext cx="444500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17" name="Shape 13"/>
          <p:cNvSpPr/>
          <p:nvPr/>
        </p:nvSpPr>
        <p:spPr>
          <a:xfrm>
            <a:off x="317500" y="4064000"/>
            <a:ext cx="3770313" cy="1849438"/>
          </a:xfrm>
          <a:custGeom>
            <a:avLst/>
            <a:gdLst/>
            <a:ahLst/>
            <a:cxnLst/>
            <a:rect l="l" t="t" r="r" b="b"/>
            <a:pathLst>
              <a:path w="3770313" h="1849438">
                <a:moveTo>
                  <a:pt x="95246" y="0"/>
                </a:moveTo>
                <a:lnTo>
                  <a:pt x="3675066" y="0"/>
                </a:lnTo>
                <a:cubicBezTo>
                  <a:pt x="3727669" y="0"/>
                  <a:pt x="3770313" y="42643"/>
                  <a:pt x="3770313" y="95246"/>
                </a:cubicBezTo>
                <a:lnTo>
                  <a:pt x="3770313" y="1754191"/>
                </a:lnTo>
                <a:cubicBezTo>
                  <a:pt x="3770313" y="1806794"/>
                  <a:pt x="3727669" y="1849438"/>
                  <a:pt x="3675066" y="1849438"/>
                </a:cubicBezTo>
                <a:lnTo>
                  <a:pt x="95246" y="1849438"/>
                </a:lnTo>
                <a:cubicBezTo>
                  <a:pt x="42643" y="1849438"/>
                  <a:pt x="0" y="1806794"/>
                  <a:pt x="0" y="1754191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4"/>
          <p:cNvSpPr/>
          <p:nvPr/>
        </p:nvSpPr>
        <p:spPr>
          <a:xfrm>
            <a:off x="444500" y="4191000"/>
            <a:ext cx="817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Champions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731865" y="4191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6458" y="32445"/>
                </a:moveTo>
                <a:cubicBezTo>
                  <a:pt x="119881" y="29728"/>
                  <a:pt x="122039" y="25524"/>
                  <a:pt x="122039" y="20836"/>
                </a:cubicBezTo>
                <a:cubicBezTo>
                  <a:pt x="122039" y="12613"/>
                  <a:pt x="115379" y="5953"/>
                  <a:pt x="107156" y="5953"/>
                </a:cubicBezTo>
                <a:cubicBezTo>
                  <a:pt x="98933" y="5953"/>
                  <a:pt x="92273" y="12613"/>
                  <a:pt x="92273" y="20836"/>
                </a:cubicBezTo>
                <a:cubicBezTo>
                  <a:pt x="92273" y="25524"/>
                  <a:pt x="94469" y="29728"/>
                  <a:pt x="97854" y="32445"/>
                </a:cubicBezTo>
                <a:lnTo>
                  <a:pt x="72405" y="72479"/>
                </a:lnTo>
                <a:cubicBezTo>
                  <a:pt x="68684" y="78321"/>
                  <a:pt x="60759" y="79772"/>
                  <a:pt x="55215" y="75605"/>
                </a:cubicBezTo>
                <a:lnTo>
                  <a:pt x="33077" y="59048"/>
                </a:lnTo>
                <a:cubicBezTo>
                  <a:pt x="34751" y="56666"/>
                  <a:pt x="35719" y="53727"/>
                  <a:pt x="35719" y="50602"/>
                </a:cubicBezTo>
                <a:cubicBezTo>
                  <a:pt x="35719" y="42379"/>
                  <a:pt x="29059" y="35719"/>
                  <a:pt x="20836" y="35719"/>
                </a:cubicBezTo>
                <a:cubicBezTo>
                  <a:pt x="12613" y="35719"/>
                  <a:pt x="5953" y="42379"/>
                  <a:pt x="5953" y="50602"/>
                </a:cubicBezTo>
                <a:cubicBezTo>
                  <a:pt x="5953" y="58713"/>
                  <a:pt x="12464" y="65336"/>
                  <a:pt x="20538" y="65484"/>
                </a:cubicBezTo>
                <a:lnTo>
                  <a:pt x="32668" y="146410"/>
                </a:lnTo>
                <a:cubicBezTo>
                  <a:pt x="34417" y="158055"/>
                  <a:pt x="44425" y="166688"/>
                  <a:pt x="56220" y="166688"/>
                </a:cubicBezTo>
                <a:lnTo>
                  <a:pt x="158093" y="166688"/>
                </a:lnTo>
                <a:cubicBezTo>
                  <a:pt x="169887" y="166688"/>
                  <a:pt x="179896" y="158055"/>
                  <a:pt x="181645" y="146410"/>
                </a:cubicBezTo>
                <a:lnTo>
                  <a:pt x="193774" y="65484"/>
                </a:lnTo>
                <a:cubicBezTo>
                  <a:pt x="201848" y="65336"/>
                  <a:pt x="208359" y="58713"/>
                  <a:pt x="208359" y="50602"/>
                </a:cubicBezTo>
                <a:cubicBezTo>
                  <a:pt x="208359" y="42379"/>
                  <a:pt x="201699" y="35719"/>
                  <a:pt x="193477" y="35719"/>
                </a:cubicBezTo>
                <a:cubicBezTo>
                  <a:pt x="185254" y="35719"/>
                  <a:pt x="178594" y="42379"/>
                  <a:pt x="178594" y="50602"/>
                </a:cubicBezTo>
                <a:cubicBezTo>
                  <a:pt x="178594" y="53727"/>
                  <a:pt x="179561" y="56666"/>
                  <a:pt x="181235" y="59048"/>
                </a:cubicBezTo>
                <a:lnTo>
                  <a:pt x="159134" y="75642"/>
                </a:lnTo>
                <a:cubicBezTo>
                  <a:pt x="153591" y="79809"/>
                  <a:pt x="145666" y="78358"/>
                  <a:pt x="141945" y="72517"/>
                </a:cubicBezTo>
                <a:lnTo>
                  <a:pt x="116458" y="3244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444500" y="4476750"/>
            <a:ext cx="3635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837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44500" y="479425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(14.2%)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44500" y="5052219"/>
            <a:ext cx="3516313" cy="7938"/>
          </a:xfrm>
          <a:custGeom>
            <a:avLst/>
            <a:gdLst/>
            <a:ahLst/>
            <a:cxnLst/>
            <a:rect l="l" t="t" r="r" b="b"/>
            <a:pathLst>
              <a:path w="3516313" h="7938">
                <a:moveTo>
                  <a:pt x="0" y="0"/>
                </a:moveTo>
                <a:lnTo>
                  <a:pt x="3516313" y="0"/>
                </a:lnTo>
                <a:lnTo>
                  <a:pt x="3516313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44500" y="5119688"/>
            <a:ext cx="3611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51.4%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44500" y="5373688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total revenue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44500" y="5595938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R=5, F≥4: Recent, frequent, high-value buyers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220021" y="4071938"/>
            <a:ext cx="3754438" cy="1833563"/>
          </a:xfrm>
          <a:custGeom>
            <a:avLst/>
            <a:gdLst/>
            <a:ahLst/>
            <a:cxnLst/>
            <a:rect l="l" t="t" r="r" b="b"/>
            <a:pathLst>
              <a:path w="3754438" h="1833563">
                <a:moveTo>
                  <a:pt x="95254" y="0"/>
                </a:moveTo>
                <a:lnTo>
                  <a:pt x="3659184" y="0"/>
                </a:lnTo>
                <a:cubicBezTo>
                  <a:pt x="3711756" y="0"/>
                  <a:pt x="3754438" y="42682"/>
                  <a:pt x="3754438" y="95254"/>
                </a:cubicBezTo>
                <a:lnTo>
                  <a:pt x="3754438" y="1738309"/>
                </a:lnTo>
                <a:cubicBezTo>
                  <a:pt x="3754438" y="1790916"/>
                  <a:pt x="3711791" y="1833563"/>
                  <a:pt x="3659184" y="1833563"/>
                </a:cubicBezTo>
                <a:lnTo>
                  <a:pt x="95254" y="1833563"/>
                </a:lnTo>
                <a:cubicBezTo>
                  <a:pt x="42682" y="1833563"/>
                  <a:pt x="0" y="1790881"/>
                  <a:pt x="0" y="1738309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0071E3"/>
            </a:solidFill>
            <a:prstDash val="solid"/>
          </a:ln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354959" y="4206875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Loyal Customers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622604" y="420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5"/>
          <p:cNvSpPr/>
          <p:nvPr/>
        </p:nvSpPr>
        <p:spPr>
          <a:xfrm>
            <a:off x="4354959" y="4492625"/>
            <a:ext cx="3603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1,084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354959" y="4810125"/>
            <a:ext cx="354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(18.4%)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4354959" y="5068094"/>
            <a:ext cx="3484563" cy="7938"/>
          </a:xfrm>
          <a:custGeom>
            <a:avLst/>
            <a:gdLst/>
            <a:ahLst/>
            <a:cxnLst/>
            <a:rect l="l" t="t" r="r" b="b"/>
            <a:pathLst>
              <a:path w="3484563" h="7938">
                <a:moveTo>
                  <a:pt x="0" y="0"/>
                </a:moveTo>
                <a:lnTo>
                  <a:pt x="3484563" y="0"/>
                </a:lnTo>
                <a:lnTo>
                  <a:pt x="3484563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2" name="Text 28"/>
          <p:cNvSpPr/>
          <p:nvPr/>
        </p:nvSpPr>
        <p:spPr>
          <a:xfrm>
            <a:off x="4354959" y="5135563"/>
            <a:ext cx="3579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20.6%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4354959" y="5389563"/>
            <a:ext cx="354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total revenue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4354959" y="5611813"/>
            <a:ext cx="354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R≥4, F≥3: Consistent repeat buyers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8106792" y="4064000"/>
            <a:ext cx="3770313" cy="1849438"/>
          </a:xfrm>
          <a:custGeom>
            <a:avLst/>
            <a:gdLst/>
            <a:ahLst/>
            <a:cxnLst/>
            <a:rect l="l" t="t" r="r" b="b"/>
            <a:pathLst>
              <a:path w="3770313" h="1849438">
                <a:moveTo>
                  <a:pt x="95246" y="0"/>
                </a:moveTo>
                <a:lnTo>
                  <a:pt x="3675066" y="0"/>
                </a:lnTo>
                <a:cubicBezTo>
                  <a:pt x="3727669" y="0"/>
                  <a:pt x="3770313" y="42643"/>
                  <a:pt x="3770313" y="95246"/>
                </a:cubicBezTo>
                <a:lnTo>
                  <a:pt x="3770313" y="1754191"/>
                </a:lnTo>
                <a:cubicBezTo>
                  <a:pt x="3770313" y="1806794"/>
                  <a:pt x="3727669" y="1849438"/>
                  <a:pt x="3675066" y="1849438"/>
                </a:cubicBezTo>
                <a:lnTo>
                  <a:pt x="95246" y="1849438"/>
                </a:lnTo>
                <a:cubicBezTo>
                  <a:pt x="42643" y="1849438"/>
                  <a:pt x="0" y="1806794"/>
                  <a:pt x="0" y="1754191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8233792" y="4191000"/>
            <a:ext cx="51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At Risk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11533063" y="4191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8" name="Text 34"/>
          <p:cNvSpPr/>
          <p:nvPr/>
        </p:nvSpPr>
        <p:spPr>
          <a:xfrm>
            <a:off x="8233792" y="4476750"/>
            <a:ext cx="3635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824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8233792" y="4794250"/>
            <a:ext cx="357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(14.0%)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8233792" y="5052219"/>
            <a:ext cx="3516313" cy="7938"/>
          </a:xfrm>
          <a:custGeom>
            <a:avLst/>
            <a:gdLst/>
            <a:ahLst/>
            <a:cxnLst/>
            <a:rect l="l" t="t" r="r" b="b"/>
            <a:pathLst>
              <a:path w="3516313" h="7938">
                <a:moveTo>
                  <a:pt x="0" y="0"/>
                </a:moveTo>
                <a:lnTo>
                  <a:pt x="3516313" y="0"/>
                </a:lnTo>
                <a:lnTo>
                  <a:pt x="3516313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1" name="Text 37"/>
          <p:cNvSpPr/>
          <p:nvPr/>
        </p:nvSpPr>
        <p:spPr>
          <a:xfrm>
            <a:off x="8233792" y="5119688"/>
            <a:ext cx="3611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6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9.2%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8233792" y="5373688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total revenue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8233792" y="5595938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R≤2, F≥3: Were frequent but haven't purchased recently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317500" y="5976938"/>
            <a:ext cx="11557000" cy="793750"/>
          </a:xfrm>
          <a:custGeom>
            <a:avLst/>
            <a:gdLst/>
            <a:ahLst/>
            <a:cxnLst/>
            <a:rect l="l" t="t" r="r" b="b"/>
            <a:pathLst>
              <a:path w="11557000" h="793750">
                <a:moveTo>
                  <a:pt x="95250" y="0"/>
                </a:moveTo>
                <a:lnTo>
                  <a:pt x="11461750" y="0"/>
                </a:lnTo>
                <a:cubicBezTo>
                  <a:pt x="11514320" y="0"/>
                  <a:pt x="11557000" y="42680"/>
                  <a:pt x="11557000" y="95250"/>
                </a:cubicBezTo>
                <a:lnTo>
                  <a:pt x="11557000" y="698500"/>
                </a:lnTo>
                <a:cubicBezTo>
                  <a:pt x="11557000" y="751070"/>
                  <a:pt x="11514320" y="793750"/>
                  <a:pt x="11461750" y="793750"/>
                </a:cubicBezTo>
                <a:lnTo>
                  <a:pt x="95250" y="793750"/>
                </a:lnTo>
                <a:cubicBezTo>
                  <a:pt x="42680" y="793750"/>
                  <a:pt x="0" y="751070"/>
                  <a:pt x="0" y="6985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381000" y="61039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6" name="Text 42"/>
          <p:cNvSpPr/>
          <p:nvPr/>
        </p:nvSpPr>
        <p:spPr>
          <a:xfrm>
            <a:off x="687958" y="6072188"/>
            <a:ext cx="1115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Segmentation Insights</a:t>
            </a:r>
            <a:endParaRPr lang="en-US" sz="1600" dirty="0"/>
          </a:p>
        </p:txBody>
      </p:sp>
      <p:sp>
        <p:nvSpPr>
          <p:cNvPr id="47" name="Text 43"/>
          <p:cNvSpPr/>
          <p:nvPr/>
        </p:nvSpPr>
        <p:spPr>
          <a:xfrm>
            <a:off x="687958" y="6294438"/>
            <a:ext cx="11152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Champions + Loyal Customers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represent only 32.6% of the customer base but generate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72% of total revenue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Risk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segment (824 customers) still contributes 9.2% of revenue and represents a critical win-back opportunity. The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Lost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segment (1,523 customers, 25.9%) contributes only 3.8% of revenue, indicating successful identification of truly inactive customers.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364" y="346364"/>
            <a:ext cx="11559886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spc="48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Lifecycle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364" y="554182"/>
            <a:ext cx="11655136" cy="34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Cohort Retention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64" y="1039091"/>
            <a:ext cx="2770909" cy="796636"/>
          </a:xfrm>
          <a:custGeom>
            <a:avLst/>
            <a:gdLst/>
            <a:ahLst/>
            <a:cxnLst/>
            <a:rect l="l" t="t" r="r" b="b"/>
            <a:pathLst>
              <a:path w="2770909" h="796636">
                <a:moveTo>
                  <a:pt x="103905" y="0"/>
                </a:moveTo>
                <a:lnTo>
                  <a:pt x="2667004" y="0"/>
                </a:lnTo>
                <a:cubicBezTo>
                  <a:pt x="2724389" y="0"/>
                  <a:pt x="2770909" y="46520"/>
                  <a:pt x="2770909" y="103905"/>
                </a:cubicBezTo>
                <a:lnTo>
                  <a:pt x="2770909" y="692731"/>
                </a:lnTo>
                <a:cubicBezTo>
                  <a:pt x="2770909" y="750116"/>
                  <a:pt x="2724389" y="796636"/>
                  <a:pt x="2667004" y="796636"/>
                </a:cubicBezTo>
                <a:lnTo>
                  <a:pt x="103905" y="796636"/>
                </a:lnTo>
                <a:cubicBezTo>
                  <a:pt x="46520" y="796636"/>
                  <a:pt x="0" y="750116"/>
                  <a:pt x="0" y="692731"/>
                </a:cubicBezTo>
                <a:lnTo>
                  <a:pt x="0" y="103905"/>
                </a:lnTo>
                <a:cubicBezTo>
                  <a:pt x="0" y="46520"/>
                  <a:pt x="46520" y="0"/>
                  <a:pt x="1039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977" dist="8659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4602" y="1177636"/>
            <a:ext cx="25544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1 Retention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9966" y="1385455"/>
            <a:ext cx="262370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5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35-45%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55818" y="1039091"/>
            <a:ext cx="2770909" cy="796636"/>
          </a:xfrm>
          <a:custGeom>
            <a:avLst/>
            <a:gdLst/>
            <a:ahLst/>
            <a:cxnLst/>
            <a:rect l="l" t="t" r="r" b="b"/>
            <a:pathLst>
              <a:path w="2770909" h="796636">
                <a:moveTo>
                  <a:pt x="103905" y="0"/>
                </a:moveTo>
                <a:lnTo>
                  <a:pt x="2667004" y="0"/>
                </a:lnTo>
                <a:cubicBezTo>
                  <a:pt x="2724389" y="0"/>
                  <a:pt x="2770909" y="46520"/>
                  <a:pt x="2770909" y="103905"/>
                </a:cubicBezTo>
                <a:lnTo>
                  <a:pt x="2770909" y="692731"/>
                </a:lnTo>
                <a:cubicBezTo>
                  <a:pt x="2770909" y="750116"/>
                  <a:pt x="2724389" y="796636"/>
                  <a:pt x="2667004" y="796636"/>
                </a:cubicBezTo>
                <a:lnTo>
                  <a:pt x="103905" y="796636"/>
                </a:lnTo>
                <a:cubicBezTo>
                  <a:pt x="46520" y="796636"/>
                  <a:pt x="0" y="750116"/>
                  <a:pt x="0" y="692731"/>
                </a:cubicBezTo>
                <a:lnTo>
                  <a:pt x="0" y="103905"/>
                </a:lnTo>
                <a:cubicBezTo>
                  <a:pt x="0" y="46520"/>
                  <a:pt x="46520" y="0"/>
                  <a:pt x="1039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977" dist="8659" dir="540000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4057" y="1177636"/>
            <a:ext cx="25544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6 Retention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29420" y="1385455"/>
            <a:ext cx="262370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5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20-30%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65273" y="1039091"/>
            <a:ext cx="2770909" cy="796636"/>
          </a:xfrm>
          <a:custGeom>
            <a:avLst/>
            <a:gdLst/>
            <a:ahLst/>
            <a:cxnLst/>
            <a:rect l="l" t="t" r="r" b="b"/>
            <a:pathLst>
              <a:path w="2770909" h="796636">
                <a:moveTo>
                  <a:pt x="103905" y="0"/>
                </a:moveTo>
                <a:lnTo>
                  <a:pt x="2667004" y="0"/>
                </a:lnTo>
                <a:cubicBezTo>
                  <a:pt x="2724389" y="0"/>
                  <a:pt x="2770909" y="46520"/>
                  <a:pt x="2770909" y="103905"/>
                </a:cubicBezTo>
                <a:lnTo>
                  <a:pt x="2770909" y="692731"/>
                </a:lnTo>
                <a:cubicBezTo>
                  <a:pt x="2770909" y="750116"/>
                  <a:pt x="2724389" y="796636"/>
                  <a:pt x="2667004" y="796636"/>
                </a:cubicBezTo>
                <a:lnTo>
                  <a:pt x="103905" y="796636"/>
                </a:lnTo>
                <a:cubicBezTo>
                  <a:pt x="46520" y="796636"/>
                  <a:pt x="0" y="750116"/>
                  <a:pt x="0" y="692731"/>
                </a:cubicBezTo>
                <a:lnTo>
                  <a:pt x="0" y="103905"/>
                </a:lnTo>
                <a:cubicBezTo>
                  <a:pt x="0" y="46520"/>
                  <a:pt x="46520" y="0"/>
                  <a:pt x="1039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977" dist="8659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3511" y="1177636"/>
            <a:ext cx="25544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12 Retention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38875" y="1385455"/>
            <a:ext cx="262370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5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15-25%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74727" y="1039091"/>
            <a:ext cx="2770909" cy="796636"/>
          </a:xfrm>
          <a:custGeom>
            <a:avLst/>
            <a:gdLst/>
            <a:ahLst/>
            <a:cxnLst/>
            <a:rect l="l" t="t" r="r" b="b"/>
            <a:pathLst>
              <a:path w="2770909" h="796636">
                <a:moveTo>
                  <a:pt x="103905" y="0"/>
                </a:moveTo>
                <a:lnTo>
                  <a:pt x="2667004" y="0"/>
                </a:lnTo>
                <a:cubicBezTo>
                  <a:pt x="2724389" y="0"/>
                  <a:pt x="2770909" y="46520"/>
                  <a:pt x="2770909" y="103905"/>
                </a:cubicBezTo>
                <a:lnTo>
                  <a:pt x="2770909" y="692731"/>
                </a:lnTo>
                <a:cubicBezTo>
                  <a:pt x="2770909" y="750116"/>
                  <a:pt x="2724389" y="796636"/>
                  <a:pt x="2667004" y="796636"/>
                </a:cubicBezTo>
                <a:lnTo>
                  <a:pt x="103905" y="796636"/>
                </a:lnTo>
                <a:cubicBezTo>
                  <a:pt x="46520" y="796636"/>
                  <a:pt x="0" y="750116"/>
                  <a:pt x="0" y="692731"/>
                </a:cubicBezTo>
                <a:lnTo>
                  <a:pt x="0" y="103905"/>
                </a:lnTo>
                <a:cubicBezTo>
                  <a:pt x="0" y="46520"/>
                  <a:pt x="46520" y="0"/>
                  <a:pt x="1039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977" dist="8659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2966" y="1177636"/>
            <a:ext cx="2554432" cy="17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Cohort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8330" y="1385455"/>
            <a:ext cx="2623705" cy="311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45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 2009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6364" y="1974273"/>
            <a:ext cx="11499273" cy="3463636"/>
          </a:xfrm>
          <a:custGeom>
            <a:avLst/>
            <a:gdLst/>
            <a:ahLst/>
            <a:cxnLst/>
            <a:rect l="l" t="t" r="r" b="b"/>
            <a:pathLst>
              <a:path w="11499273" h="3463636">
                <a:moveTo>
                  <a:pt x="103909" y="0"/>
                </a:moveTo>
                <a:lnTo>
                  <a:pt x="11395364" y="0"/>
                </a:lnTo>
                <a:cubicBezTo>
                  <a:pt x="11452751" y="0"/>
                  <a:pt x="11499273" y="46522"/>
                  <a:pt x="11499273" y="103909"/>
                </a:cubicBezTo>
                <a:lnTo>
                  <a:pt x="11499273" y="3359727"/>
                </a:lnTo>
                <a:cubicBezTo>
                  <a:pt x="11499273" y="3417115"/>
                  <a:pt x="11452751" y="3463636"/>
                  <a:pt x="11395364" y="3463636"/>
                </a:cubicBezTo>
                <a:lnTo>
                  <a:pt x="103909" y="3463636"/>
                </a:lnTo>
                <a:cubicBezTo>
                  <a:pt x="46522" y="3463636"/>
                  <a:pt x="0" y="3417115"/>
                  <a:pt x="0" y="3359727"/>
                </a:cubicBezTo>
                <a:lnTo>
                  <a:pt x="0" y="103909"/>
                </a:lnTo>
                <a:cubicBezTo>
                  <a:pt x="0" y="46560"/>
                  <a:pt x="46560" y="0"/>
                  <a:pt x="1039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977" dist="8659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545" y="2147455"/>
            <a:ext cx="11239500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Retention Heatmap by Cohort</a:t>
            </a:r>
            <a:endParaRPr lang="en-US" sz="1600" dirty="0"/>
          </a:p>
        </p:txBody>
      </p:sp>
      <p:pic>
        <p:nvPicPr>
          <p:cNvPr id="18" name="Image 0" descr="https://kimi-img.moonshot.cn/pub/slides/26-03-01-16:07:42-d6hv7jkcoua042r2tf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9545" y="2493818"/>
            <a:ext cx="10044545" cy="2770909"/>
          </a:xfrm>
          <a:prstGeom prst="roundRect">
            <a:avLst>
              <a:gd name="adj" fmla="val 0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346364" y="5576455"/>
            <a:ext cx="5680364" cy="935182"/>
          </a:xfrm>
          <a:custGeom>
            <a:avLst/>
            <a:gdLst/>
            <a:ahLst/>
            <a:cxnLst/>
            <a:rect l="l" t="t" r="r" b="b"/>
            <a:pathLst>
              <a:path w="5680364" h="935182">
                <a:moveTo>
                  <a:pt x="103908" y="0"/>
                </a:moveTo>
                <a:lnTo>
                  <a:pt x="5576456" y="0"/>
                </a:lnTo>
                <a:cubicBezTo>
                  <a:pt x="5633842" y="0"/>
                  <a:pt x="5680364" y="46521"/>
                  <a:pt x="5680364" y="103908"/>
                </a:cubicBezTo>
                <a:lnTo>
                  <a:pt x="5680364" y="831274"/>
                </a:lnTo>
                <a:cubicBezTo>
                  <a:pt x="5680364" y="888661"/>
                  <a:pt x="5633842" y="935182"/>
                  <a:pt x="5576456" y="935182"/>
                </a:cubicBezTo>
                <a:lnTo>
                  <a:pt x="103908" y="935182"/>
                </a:lnTo>
                <a:cubicBezTo>
                  <a:pt x="46521" y="935182"/>
                  <a:pt x="0" y="888661"/>
                  <a:pt x="0" y="831274"/>
                </a:cubicBezTo>
                <a:lnTo>
                  <a:pt x="0" y="103908"/>
                </a:lnTo>
                <a:cubicBezTo>
                  <a:pt x="0" y="46560"/>
                  <a:pt x="46560" y="0"/>
                  <a:pt x="1039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977" dist="8659" dir="5400000">
              <a:srgbClr val="000000">
                <a:alpha val="10196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0886" y="5749636"/>
            <a:ext cx="129886" cy="173182"/>
          </a:xfrm>
          <a:custGeom>
            <a:avLst/>
            <a:gdLst/>
            <a:ahLst/>
            <a:cxnLst/>
            <a:rect l="l" t="t" r="r" b="b"/>
            <a:pathLst>
              <a:path w="129886" h="173182">
                <a:moveTo>
                  <a:pt x="57299" y="170002"/>
                </a:moveTo>
                <a:cubicBezTo>
                  <a:pt x="61527" y="174230"/>
                  <a:pt x="68393" y="174230"/>
                  <a:pt x="72621" y="170002"/>
                </a:cubicBezTo>
                <a:lnTo>
                  <a:pt x="126741" y="115883"/>
                </a:lnTo>
                <a:cubicBezTo>
                  <a:pt x="130969" y="111655"/>
                  <a:pt x="130969" y="104789"/>
                  <a:pt x="126741" y="100560"/>
                </a:cubicBezTo>
                <a:cubicBezTo>
                  <a:pt x="122513" y="96332"/>
                  <a:pt x="115646" y="96332"/>
                  <a:pt x="111418" y="100560"/>
                </a:cubicBezTo>
                <a:lnTo>
                  <a:pt x="75767" y="136212"/>
                </a:lnTo>
                <a:lnTo>
                  <a:pt x="75767" y="10824"/>
                </a:lnTo>
                <a:cubicBezTo>
                  <a:pt x="75767" y="4837"/>
                  <a:pt x="70930" y="0"/>
                  <a:pt x="64943" y="0"/>
                </a:cubicBezTo>
                <a:cubicBezTo>
                  <a:pt x="58956" y="0"/>
                  <a:pt x="54119" y="4837"/>
                  <a:pt x="54119" y="10824"/>
                </a:cubicBezTo>
                <a:lnTo>
                  <a:pt x="54119" y="136212"/>
                </a:lnTo>
                <a:lnTo>
                  <a:pt x="18468" y="100560"/>
                </a:lnTo>
                <a:cubicBezTo>
                  <a:pt x="14240" y="96332"/>
                  <a:pt x="7374" y="96332"/>
                  <a:pt x="3146" y="100560"/>
                </a:cubicBezTo>
                <a:cubicBezTo>
                  <a:pt x="-1082" y="104789"/>
                  <a:pt x="-1082" y="111655"/>
                  <a:pt x="3146" y="115883"/>
                </a:cubicBezTo>
                <a:lnTo>
                  <a:pt x="57265" y="170002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8"/>
          <p:cNvSpPr/>
          <p:nvPr/>
        </p:nvSpPr>
        <p:spPr>
          <a:xfrm>
            <a:off x="771336" y="5715000"/>
            <a:ext cx="518679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Sharp First-Month Drop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1336" y="5957455"/>
            <a:ext cx="5186795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55-65% of customers don't return after their first purchase, indicating a critical engagement window.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65273" y="5576455"/>
            <a:ext cx="5680364" cy="935182"/>
          </a:xfrm>
          <a:custGeom>
            <a:avLst/>
            <a:gdLst/>
            <a:ahLst/>
            <a:cxnLst/>
            <a:rect l="l" t="t" r="r" b="b"/>
            <a:pathLst>
              <a:path w="5680364" h="935182">
                <a:moveTo>
                  <a:pt x="103908" y="0"/>
                </a:moveTo>
                <a:lnTo>
                  <a:pt x="5576456" y="0"/>
                </a:lnTo>
                <a:cubicBezTo>
                  <a:pt x="5633842" y="0"/>
                  <a:pt x="5680364" y="46521"/>
                  <a:pt x="5680364" y="103908"/>
                </a:cubicBezTo>
                <a:lnTo>
                  <a:pt x="5680364" y="831274"/>
                </a:lnTo>
                <a:cubicBezTo>
                  <a:pt x="5680364" y="888661"/>
                  <a:pt x="5633842" y="935182"/>
                  <a:pt x="5576456" y="935182"/>
                </a:cubicBezTo>
                <a:lnTo>
                  <a:pt x="103908" y="935182"/>
                </a:lnTo>
                <a:cubicBezTo>
                  <a:pt x="46521" y="935182"/>
                  <a:pt x="0" y="888661"/>
                  <a:pt x="0" y="831274"/>
                </a:cubicBezTo>
                <a:lnTo>
                  <a:pt x="0" y="103908"/>
                </a:lnTo>
                <a:cubicBezTo>
                  <a:pt x="0" y="46560"/>
                  <a:pt x="46560" y="0"/>
                  <a:pt x="1039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5977" dist="8659" dir="540000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303818" y="5749636"/>
            <a:ext cx="173182" cy="173182"/>
          </a:xfrm>
          <a:custGeom>
            <a:avLst/>
            <a:gdLst/>
            <a:ahLst/>
            <a:cxnLst/>
            <a:rect l="l" t="t" r="r" b="b"/>
            <a:pathLst>
              <a:path w="173182" h="173182">
                <a:moveTo>
                  <a:pt x="21648" y="21648"/>
                </a:moveTo>
                <a:cubicBezTo>
                  <a:pt x="21648" y="15661"/>
                  <a:pt x="16811" y="10824"/>
                  <a:pt x="10824" y="10824"/>
                </a:cubicBezTo>
                <a:cubicBezTo>
                  <a:pt x="4837" y="10824"/>
                  <a:pt x="0" y="15661"/>
                  <a:pt x="0" y="21648"/>
                </a:cubicBezTo>
                <a:lnTo>
                  <a:pt x="0" y="135298"/>
                </a:lnTo>
                <a:cubicBezTo>
                  <a:pt x="0" y="150249"/>
                  <a:pt x="12109" y="162358"/>
                  <a:pt x="27060" y="162358"/>
                </a:cubicBezTo>
                <a:lnTo>
                  <a:pt x="162358" y="162358"/>
                </a:lnTo>
                <a:cubicBezTo>
                  <a:pt x="168345" y="162358"/>
                  <a:pt x="173182" y="157521"/>
                  <a:pt x="173182" y="151534"/>
                </a:cubicBezTo>
                <a:cubicBezTo>
                  <a:pt x="173182" y="145547"/>
                  <a:pt x="168345" y="140710"/>
                  <a:pt x="162358" y="140710"/>
                </a:cubicBezTo>
                <a:lnTo>
                  <a:pt x="27060" y="140710"/>
                </a:lnTo>
                <a:cubicBezTo>
                  <a:pt x="24083" y="140710"/>
                  <a:pt x="21648" y="138275"/>
                  <a:pt x="21648" y="135298"/>
                </a:cubicBezTo>
                <a:lnTo>
                  <a:pt x="21648" y="21648"/>
                </a:lnTo>
                <a:close/>
                <a:moveTo>
                  <a:pt x="159178" y="50940"/>
                </a:moveTo>
                <a:cubicBezTo>
                  <a:pt x="163407" y="46712"/>
                  <a:pt x="163407" y="39845"/>
                  <a:pt x="159178" y="35617"/>
                </a:cubicBezTo>
                <a:cubicBezTo>
                  <a:pt x="154950" y="31389"/>
                  <a:pt x="148084" y="31389"/>
                  <a:pt x="143856" y="35617"/>
                </a:cubicBezTo>
                <a:lnTo>
                  <a:pt x="108239" y="71268"/>
                </a:lnTo>
                <a:lnTo>
                  <a:pt x="88823" y="51887"/>
                </a:lnTo>
                <a:cubicBezTo>
                  <a:pt x="84595" y="47659"/>
                  <a:pt x="77729" y="47659"/>
                  <a:pt x="73501" y="51887"/>
                </a:cubicBezTo>
                <a:lnTo>
                  <a:pt x="41029" y="84358"/>
                </a:lnTo>
                <a:cubicBezTo>
                  <a:pt x="36801" y="88587"/>
                  <a:pt x="36801" y="95453"/>
                  <a:pt x="41029" y="99681"/>
                </a:cubicBezTo>
                <a:cubicBezTo>
                  <a:pt x="45257" y="103909"/>
                  <a:pt x="52124" y="103909"/>
                  <a:pt x="56352" y="99681"/>
                </a:cubicBezTo>
                <a:lnTo>
                  <a:pt x="81179" y="74854"/>
                </a:lnTo>
                <a:lnTo>
                  <a:pt x="100594" y="94269"/>
                </a:lnTo>
                <a:cubicBezTo>
                  <a:pt x="104822" y="98497"/>
                  <a:pt x="111689" y="98497"/>
                  <a:pt x="115917" y="94269"/>
                </a:cubicBezTo>
                <a:lnTo>
                  <a:pt x="159212" y="5097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5" name="Text 22"/>
          <p:cNvSpPr/>
          <p:nvPr/>
        </p:nvSpPr>
        <p:spPr>
          <a:xfrm>
            <a:off x="6580368" y="5715000"/>
            <a:ext cx="519545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Gradual Decline Pattern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80368" y="5957455"/>
            <a:ext cx="5195455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the initial drop, retention stabilizes with gradual decline, suggesting loyal customers remain engaged.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080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Return Analysis &amp;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500"/>
            <a:ext cx="2794000" cy="730250"/>
          </a:xfrm>
          <a:custGeom>
            <a:avLst/>
            <a:gdLst/>
            <a:ahLst/>
            <a:cxnLst/>
            <a:rect l="l" t="t" r="r" b="b"/>
            <a:pathLst>
              <a:path w="2794000" h="730250">
                <a:moveTo>
                  <a:pt x="95247" y="0"/>
                </a:moveTo>
                <a:lnTo>
                  <a:pt x="2698753" y="0"/>
                </a:lnTo>
                <a:cubicBezTo>
                  <a:pt x="2751357" y="0"/>
                  <a:pt x="2794000" y="42643"/>
                  <a:pt x="2794000" y="95247"/>
                </a:cubicBezTo>
                <a:lnTo>
                  <a:pt x="2794000" y="635003"/>
                </a:lnTo>
                <a:cubicBezTo>
                  <a:pt x="2794000" y="687607"/>
                  <a:pt x="2751357" y="730250"/>
                  <a:pt x="26987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6719" y="1079500"/>
            <a:ext cx="259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Transactions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969" y="1270000"/>
            <a:ext cx="2659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22,950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38500" y="952500"/>
            <a:ext cx="2794000" cy="730250"/>
          </a:xfrm>
          <a:custGeom>
            <a:avLst/>
            <a:gdLst/>
            <a:ahLst/>
            <a:cxnLst/>
            <a:rect l="l" t="t" r="r" b="b"/>
            <a:pathLst>
              <a:path w="2794000" h="730250">
                <a:moveTo>
                  <a:pt x="95247" y="0"/>
                </a:moveTo>
                <a:lnTo>
                  <a:pt x="2698753" y="0"/>
                </a:lnTo>
                <a:cubicBezTo>
                  <a:pt x="2751357" y="0"/>
                  <a:pt x="2794000" y="42643"/>
                  <a:pt x="2794000" y="95247"/>
                </a:cubicBezTo>
                <a:lnTo>
                  <a:pt x="2794000" y="635003"/>
                </a:lnTo>
                <a:cubicBezTo>
                  <a:pt x="2794000" y="687607"/>
                  <a:pt x="2751357" y="730250"/>
                  <a:pt x="26987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719" y="1079500"/>
            <a:ext cx="259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05969" y="1270000"/>
            <a:ext cx="2659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2.15%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59500" y="952500"/>
            <a:ext cx="2794000" cy="730250"/>
          </a:xfrm>
          <a:custGeom>
            <a:avLst/>
            <a:gdLst/>
            <a:ahLst/>
            <a:cxnLst/>
            <a:rect l="l" t="t" r="r" b="b"/>
            <a:pathLst>
              <a:path w="2794000" h="730250">
                <a:moveTo>
                  <a:pt x="95247" y="0"/>
                </a:moveTo>
                <a:lnTo>
                  <a:pt x="2698753" y="0"/>
                </a:lnTo>
                <a:cubicBezTo>
                  <a:pt x="2751357" y="0"/>
                  <a:pt x="2794000" y="42643"/>
                  <a:pt x="2794000" y="95247"/>
                </a:cubicBezTo>
                <a:lnTo>
                  <a:pt x="2794000" y="635003"/>
                </a:lnTo>
                <a:cubicBezTo>
                  <a:pt x="2794000" y="687607"/>
                  <a:pt x="2751357" y="730250"/>
                  <a:pt x="26987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8719" y="1079500"/>
            <a:ext cx="259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26969" y="1270000"/>
            <a:ext cx="2659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£1.53M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80500" y="952500"/>
            <a:ext cx="2794000" cy="730250"/>
          </a:xfrm>
          <a:custGeom>
            <a:avLst/>
            <a:gdLst/>
            <a:ahLst/>
            <a:cxnLst/>
            <a:rect l="l" t="t" r="r" b="b"/>
            <a:pathLst>
              <a:path w="2794000" h="730250">
                <a:moveTo>
                  <a:pt x="95247" y="0"/>
                </a:moveTo>
                <a:lnTo>
                  <a:pt x="2698753" y="0"/>
                </a:lnTo>
                <a:cubicBezTo>
                  <a:pt x="2751357" y="0"/>
                  <a:pt x="2794000" y="42643"/>
                  <a:pt x="2794000" y="95247"/>
                </a:cubicBezTo>
                <a:lnTo>
                  <a:pt x="2794000" y="635003"/>
                </a:lnTo>
                <a:cubicBezTo>
                  <a:pt x="2794000" y="687607"/>
                  <a:pt x="2751357" y="730250"/>
                  <a:pt x="26987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79719" y="1079500"/>
            <a:ext cx="259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Impact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7969" y="1270000"/>
            <a:ext cx="2659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7.28%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7500" y="1809750"/>
            <a:ext cx="5715000" cy="4095750"/>
          </a:xfrm>
          <a:custGeom>
            <a:avLst/>
            <a:gdLst/>
            <a:ahLst/>
            <a:cxnLst/>
            <a:rect l="l" t="t" r="r" b="b"/>
            <a:pathLst>
              <a:path w="5715000" h="4095750">
                <a:moveTo>
                  <a:pt x="95267" y="0"/>
                </a:moveTo>
                <a:lnTo>
                  <a:pt x="5619733" y="0"/>
                </a:lnTo>
                <a:cubicBezTo>
                  <a:pt x="5672347" y="0"/>
                  <a:pt x="5715000" y="42653"/>
                  <a:pt x="5715000" y="95267"/>
                </a:cubicBezTo>
                <a:lnTo>
                  <a:pt x="5715000" y="4000483"/>
                </a:lnTo>
                <a:cubicBezTo>
                  <a:pt x="5715000" y="4053097"/>
                  <a:pt x="5672347" y="4095750"/>
                  <a:pt x="5619733" y="4095750"/>
                </a:cubicBezTo>
                <a:lnTo>
                  <a:pt x="95267" y="4095750"/>
                </a:lnTo>
                <a:cubicBezTo>
                  <a:pt x="42653" y="4095750"/>
                  <a:pt x="0" y="4053097"/>
                  <a:pt x="0" y="4000483"/>
                </a:cubicBezTo>
                <a:lnTo>
                  <a:pt x="0" y="95267"/>
                </a:lnTo>
                <a:cubicBezTo>
                  <a:pt x="0" y="42688"/>
                  <a:pt x="42688" y="0"/>
                  <a:pt x="9526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6250" y="1968500"/>
            <a:ext cx="547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Return Impact Breakdown</a:t>
            </a:r>
            <a:endParaRPr lang="en-US" sz="1600" dirty="0"/>
          </a:p>
        </p:txBody>
      </p:sp>
      <p:pic>
        <p:nvPicPr>
          <p:cNvPr id="18" name="Image 0" descr="https://kimi-img.moonshot.cn/pub/slides/26-03-01-16:07:45-d6hv7kcomnm0aj9cbf3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2286000"/>
            <a:ext cx="4381500" cy="2222500"/>
          </a:xfrm>
          <a:prstGeom prst="roundRect">
            <a:avLst>
              <a:gd name="adj" fmla="val 0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6159500" y="1809750"/>
            <a:ext cx="5715000" cy="4095750"/>
          </a:xfrm>
          <a:custGeom>
            <a:avLst/>
            <a:gdLst/>
            <a:ahLst/>
            <a:cxnLst/>
            <a:rect l="l" t="t" r="r" b="b"/>
            <a:pathLst>
              <a:path w="5715000" h="4095750">
                <a:moveTo>
                  <a:pt x="95267" y="0"/>
                </a:moveTo>
                <a:lnTo>
                  <a:pt x="5619733" y="0"/>
                </a:lnTo>
                <a:cubicBezTo>
                  <a:pt x="5672347" y="0"/>
                  <a:pt x="5715000" y="42653"/>
                  <a:pt x="5715000" y="95267"/>
                </a:cubicBezTo>
                <a:lnTo>
                  <a:pt x="5715000" y="4000483"/>
                </a:lnTo>
                <a:cubicBezTo>
                  <a:pt x="5715000" y="4053097"/>
                  <a:pt x="5672347" y="4095750"/>
                  <a:pt x="5619733" y="4095750"/>
                </a:cubicBezTo>
                <a:lnTo>
                  <a:pt x="95267" y="4095750"/>
                </a:lnTo>
                <a:cubicBezTo>
                  <a:pt x="42653" y="4095750"/>
                  <a:pt x="0" y="4053097"/>
                  <a:pt x="0" y="4000483"/>
                </a:cubicBezTo>
                <a:lnTo>
                  <a:pt x="0" y="95267"/>
                </a:lnTo>
                <a:cubicBezTo>
                  <a:pt x="0" y="42688"/>
                  <a:pt x="42688" y="0"/>
                  <a:pt x="9526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18250" y="1968500"/>
            <a:ext cx="547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Return Analysis Insights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18250" y="2286000"/>
            <a:ext cx="5397500" cy="793750"/>
          </a:xfrm>
          <a:custGeom>
            <a:avLst/>
            <a:gdLst/>
            <a:ahLst/>
            <a:cxnLst/>
            <a:rect l="l" t="t" r="r" b="b"/>
            <a:pathLst>
              <a:path w="5397500" h="793750">
                <a:moveTo>
                  <a:pt x="63500" y="0"/>
                </a:moveTo>
                <a:lnTo>
                  <a:pt x="5334000" y="0"/>
                </a:lnTo>
                <a:cubicBezTo>
                  <a:pt x="5369047" y="0"/>
                  <a:pt x="5397500" y="28453"/>
                  <a:pt x="5397500" y="63500"/>
                </a:cubicBezTo>
                <a:lnTo>
                  <a:pt x="5397500" y="730250"/>
                </a:lnTo>
                <a:cubicBezTo>
                  <a:pt x="5397500" y="765297"/>
                  <a:pt x="5369047" y="793750"/>
                  <a:pt x="5334000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Shape 19"/>
          <p:cNvSpPr/>
          <p:nvPr/>
        </p:nvSpPr>
        <p:spPr>
          <a:xfrm>
            <a:off x="6401594" y="2397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0"/>
          <p:cNvSpPr/>
          <p:nvPr/>
        </p:nvSpPr>
        <p:spPr>
          <a:xfrm>
            <a:off x="6628309" y="2381250"/>
            <a:ext cx="505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Return Rate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28309" y="2603500"/>
            <a:ext cx="5056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2.15%, the return rate is below industry average (8-10% for online retail), indicating strong product quality and accurate descriptions.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18250" y="3175000"/>
            <a:ext cx="5397500" cy="793750"/>
          </a:xfrm>
          <a:custGeom>
            <a:avLst/>
            <a:gdLst/>
            <a:ahLst/>
            <a:cxnLst/>
            <a:rect l="l" t="t" r="r" b="b"/>
            <a:pathLst>
              <a:path w="5397500" h="793750">
                <a:moveTo>
                  <a:pt x="63500" y="0"/>
                </a:moveTo>
                <a:lnTo>
                  <a:pt x="5334000" y="0"/>
                </a:lnTo>
                <a:cubicBezTo>
                  <a:pt x="5369047" y="0"/>
                  <a:pt x="5397500" y="28453"/>
                  <a:pt x="5397500" y="63500"/>
                </a:cubicBezTo>
                <a:lnTo>
                  <a:pt x="5397500" y="730250"/>
                </a:lnTo>
                <a:cubicBezTo>
                  <a:pt x="5397500" y="765297"/>
                  <a:pt x="5369047" y="793750"/>
                  <a:pt x="5334000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6" name="Shape 23"/>
          <p:cNvSpPr/>
          <p:nvPr/>
        </p:nvSpPr>
        <p:spPr>
          <a:xfrm>
            <a:off x="6423422" y="3286125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25478" y="80367"/>
                </a:moveTo>
                <a:lnTo>
                  <a:pt x="15766" y="80367"/>
                </a:lnTo>
                <a:cubicBezTo>
                  <a:pt x="12055" y="80367"/>
                  <a:pt x="9069" y="77381"/>
                  <a:pt x="9069" y="73670"/>
                </a:cubicBezTo>
                <a:cubicBezTo>
                  <a:pt x="9069" y="69959"/>
                  <a:pt x="12055" y="66973"/>
                  <a:pt x="15766" y="66973"/>
                </a:cubicBezTo>
                <a:lnTo>
                  <a:pt x="21738" y="66973"/>
                </a:lnTo>
                <a:cubicBezTo>
                  <a:pt x="10409" y="41104"/>
                  <a:pt x="29328" y="11720"/>
                  <a:pt x="57931" y="11720"/>
                </a:cubicBezTo>
                <a:lnTo>
                  <a:pt x="60220" y="11720"/>
                </a:lnTo>
                <a:cubicBezTo>
                  <a:pt x="69596" y="11720"/>
                  <a:pt x="78693" y="14874"/>
                  <a:pt x="86032" y="20706"/>
                </a:cubicBezTo>
                <a:lnTo>
                  <a:pt x="90525" y="24250"/>
                </a:lnTo>
                <a:cubicBezTo>
                  <a:pt x="94404" y="27319"/>
                  <a:pt x="95045" y="32928"/>
                  <a:pt x="91976" y="36807"/>
                </a:cubicBezTo>
                <a:cubicBezTo>
                  <a:pt x="88906" y="40686"/>
                  <a:pt x="83297" y="41328"/>
                  <a:pt x="79418" y="38258"/>
                </a:cubicBezTo>
                <a:lnTo>
                  <a:pt x="74926" y="34714"/>
                </a:lnTo>
                <a:cubicBezTo>
                  <a:pt x="70740" y="31393"/>
                  <a:pt x="65549" y="29580"/>
                  <a:pt x="60192" y="29580"/>
                </a:cubicBezTo>
                <a:lnTo>
                  <a:pt x="57903" y="29580"/>
                </a:lnTo>
                <a:cubicBezTo>
                  <a:pt x="41914" y="29580"/>
                  <a:pt x="31477" y="46295"/>
                  <a:pt x="38453" y="60666"/>
                </a:cubicBezTo>
                <a:cubicBezTo>
                  <a:pt x="39458" y="62731"/>
                  <a:pt x="40295" y="64824"/>
                  <a:pt x="40993" y="66973"/>
                </a:cubicBezTo>
                <a:lnTo>
                  <a:pt x="82711" y="66973"/>
                </a:lnTo>
                <a:cubicBezTo>
                  <a:pt x="86423" y="66973"/>
                  <a:pt x="89408" y="69959"/>
                  <a:pt x="89408" y="73670"/>
                </a:cubicBezTo>
                <a:cubicBezTo>
                  <a:pt x="89408" y="77381"/>
                  <a:pt x="86423" y="80367"/>
                  <a:pt x="82711" y="80367"/>
                </a:cubicBezTo>
                <a:lnTo>
                  <a:pt x="43309" y="80367"/>
                </a:lnTo>
                <a:cubicBezTo>
                  <a:pt x="43588" y="90218"/>
                  <a:pt x="40881" y="100068"/>
                  <a:pt x="35244" y="108524"/>
                </a:cubicBezTo>
                <a:lnTo>
                  <a:pt x="30194" y="116086"/>
                </a:lnTo>
                <a:lnTo>
                  <a:pt x="89408" y="116086"/>
                </a:lnTo>
                <a:cubicBezTo>
                  <a:pt x="94348" y="116086"/>
                  <a:pt x="98338" y="120076"/>
                  <a:pt x="98338" y="125016"/>
                </a:cubicBezTo>
                <a:cubicBezTo>
                  <a:pt x="98338" y="129955"/>
                  <a:pt x="94348" y="133945"/>
                  <a:pt x="89408" y="133945"/>
                </a:cubicBezTo>
                <a:lnTo>
                  <a:pt x="13506" y="133945"/>
                </a:lnTo>
                <a:cubicBezTo>
                  <a:pt x="10213" y="133945"/>
                  <a:pt x="7200" y="132131"/>
                  <a:pt x="5637" y="129229"/>
                </a:cubicBezTo>
                <a:cubicBezTo>
                  <a:pt x="4074" y="126327"/>
                  <a:pt x="4242" y="122811"/>
                  <a:pt x="6083" y="120048"/>
                </a:cubicBezTo>
                <a:lnTo>
                  <a:pt x="20371" y="98617"/>
                </a:lnTo>
                <a:cubicBezTo>
                  <a:pt x="24026" y="93148"/>
                  <a:pt x="25729" y="86730"/>
                  <a:pt x="25450" y="8036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4"/>
          <p:cNvSpPr/>
          <p:nvPr/>
        </p:nvSpPr>
        <p:spPr>
          <a:xfrm>
            <a:off x="6639471" y="3270250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Value Impact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39471" y="3492500"/>
            <a:ext cx="504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Despite low transaction rate, returns impact 7.28% of revenue, suggesting higher-value items are more frequently returned.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18250" y="4064000"/>
            <a:ext cx="5397500" cy="793750"/>
          </a:xfrm>
          <a:custGeom>
            <a:avLst/>
            <a:gdLst/>
            <a:ahLst/>
            <a:cxnLst/>
            <a:rect l="l" t="t" r="r" b="b"/>
            <a:pathLst>
              <a:path w="5397500" h="793750">
                <a:moveTo>
                  <a:pt x="63500" y="0"/>
                </a:moveTo>
                <a:lnTo>
                  <a:pt x="5334000" y="0"/>
                </a:lnTo>
                <a:cubicBezTo>
                  <a:pt x="5369047" y="0"/>
                  <a:pt x="5397500" y="28453"/>
                  <a:pt x="5397500" y="63500"/>
                </a:cubicBezTo>
                <a:lnTo>
                  <a:pt x="5397500" y="730250"/>
                </a:lnTo>
                <a:cubicBezTo>
                  <a:pt x="5397500" y="765297"/>
                  <a:pt x="5369047" y="793750"/>
                  <a:pt x="5334000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0" name="Shape 27"/>
          <p:cNvSpPr/>
          <p:nvPr/>
        </p:nvSpPr>
        <p:spPr>
          <a:xfrm>
            <a:off x="6414492" y="417512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03082" y="35719"/>
                </a:moveTo>
                <a:lnTo>
                  <a:pt x="93511" y="22324"/>
                </a:lnTo>
                <a:lnTo>
                  <a:pt x="31533" y="22324"/>
                </a:lnTo>
                <a:lnTo>
                  <a:pt x="21961" y="35719"/>
                </a:lnTo>
                <a:lnTo>
                  <a:pt x="103082" y="35719"/>
                </a:lnTo>
                <a:close/>
                <a:moveTo>
                  <a:pt x="0" y="41439"/>
                </a:moveTo>
                <a:cubicBezTo>
                  <a:pt x="0" y="37728"/>
                  <a:pt x="1172" y="34100"/>
                  <a:pt x="3321" y="31059"/>
                </a:cubicBezTo>
                <a:lnTo>
                  <a:pt x="16994" y="11943"/>
                </a:lnTo>
                <a:cubicBezTo>
                  <a:pt x="20343" y="7255"/>
                  <a:pt x="25757" y="4465"/>
                  <a:pt x="31505" y="4465"/>
                </a:cubicBezTo>
                <a:lnTo>
                  <a:pt x="93483" y="4465"/>
                </a:lnTo>
                <a:cubicBezTo>
                  <a:pt x="99259" y="4465"/>
                  <a:pt x="104673" y="7255"/>
                  <a:pt x="108021" y="11943"/>
                </a:cubicBezTo>
                <a:lnTo>
                  <a:pt x="121667" y="31059"/>
                </a:lnTo>
                <a:cubicBezTo>
                  <a:pt x="123844" y="34100"/>
                  <a:pt x="124988" y="37728"/>
                  <a:pt x="124988" y="4143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4143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Text 28"/>
          <p:cNvSpPr/>
          <p:nvPr/>
        </p:nvSpPr>
        <p:spPr>
          <a:xfrm>
            <a:off x="6632153" y="4159250"/>
            <a:ext cx="504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Inventory Implications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32153" y="4381500"/>
            <a:ext cx="5048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Returns affect inventory planning and cash flow. Understanding return reasons can optimize stock levels and reduce holding costs.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18250" y="4953000"/>
            <a:ext cx="5397500" cy="793750"/>
          </a:xfrm>
          <a:custGeom>
            <a:avLst/>
            <a:gdLst/>
            <a:ahLst/>
            <a:cxnLst/>
            <a:rect l="l" t="t" r="r" b="b"/>
            <a:pathLst>
              <a:path w="5397500" h="793750">
                <a:moveTo>
                  <a:pt x="63500" y="0"/>
                </a:moveTo>
                <a:lnTo>
                  <a:pt x="5334000" y="0"/>
                </a:lnTo>
                <a:cubicBezTo>
                  <a:pt x="5369047" y="0"/>
                  <a:pt x="5397500" y="28453"/>
                  <a:pt x="5397500" y="63500"/>
                </a:cubicBezTo>
                <a:lnTo>
                  <a:pt x="5397500" y="730250"/>
                </a:lnTo>
                <a:cubicBezTo>
                  <a:pt x="5397500" y="765297"/>
                  <a:pt x="5369047" y="793750"/>
                  <a:pt x="5334000" y="793750"/>
                </a:cubicBezTo>
                <a:lnTo>
                  <a:pt x="63500" y="793750"/>
                </a:lnTo>
                <a:cubicBezTo>
                  <a:pt x="28453" y="793750"/>
                  <a:pt x="0" y="765297"/>
                  <a:pt x="0" y="730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4" name="Shape 31"/>
          <p:cNvSpPr/>
          <p:nvPr/>
        </p:nvSpPr>
        <p:spPr>
          <a:xfrm>
            <a:off x="6409531" y="50641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2"/>
          <p:cNvSpPr/>
          <p:nvPr/>
        </p:nvSpPr>
        <p:spPr>
          <a:xfrm>
            <a:off x="6647160" y="5048250"/>
            <a:ext cx="504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 Detection Opportunity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647160" y="5270500"/>
            <a:ext cx="5040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analysis of returns can identify potential fraudulent activity and customers with abnormally high return rates.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17500" y="6032500"/>
            <a:ext cx="11557000" cy="857250"/>
          </a:xfrm>
          <a:custGeom>
            <a:avLst/>
            <a:gdLst/>
            <a:ahLst/>
            <a:cxnLst/>
            <a:rect l="l" t="t" r="r" b="b"/>
            <a:pathLst>
              <a:path w="11557000" h="857250">
                <a:moveTo>
                  <a:pt x="95249" y="0"/>
                </a:moveTo>
                <a:lnTo>
                  <a:pt x="11461751" y="0"/>
                </a:lnTo>
                <a:cubicBezTo>
                  <a:pt x="11514356" y="0"/>
                  <a:pt x="11557000" y="42644"/>
                  <a:pt x="11557000" y="95249"/>
                </a:cubicBezTo>
                <a:lnTo>
                  <a:pt x="11557000" y="762001"/>
                </a:lnTo>
                <a:cubicBezTo>
                  <a:pt x="11557000" y="814606"/>
                  <a:pt x="11514356" y="857250"/>
                  <a:pt x="11461751" y="857250"/>
                </a:cubicBezTo>
                <a:lnTo>
                  <a:pt x="95249" y="857250"/>
                </a:lnTo>
                <a:cubicBezTo>
                  <a:pt x="42644" y="857250"/>
                  <a:pt x="0" y="814606"/>
                  <a:pt x="0" y="762001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3" dist="7938" dir="5400000">
              <a:srgbClr val="000000">
                <a:alpha val="10196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48469" y="6191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9" name="Text 36"/>
          <p:cNvSpPr/>
          <p:nvPr/>
        </p:nvSpPr>
        <p:spPr>
          <a:xfrm>
            <a:off x="719708" y="6159500"/>
            <a:ext cx="1108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19708" y="6381750"/>
            <a:ext cx="1108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the return rate is favorable, the 7.28% revenue impact warrants investigation. Implement return reason tracking to identify patterns. Consider enhanced product photography, detailed sizing guides, and customer reviews to reduce fit-related returns. Analyze high-value returns separately to understand premium product issues.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spc="45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22631"/>
            <a:ext cx="11685701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77" y="979933"/>
            <a:ext cx="5691778" cy="2286510"/>
          </a:xfrm>
          <a:custGeom>
            <a:avLst/>
            <a:gdLst/>
            <a:ahLst/>
            <a:cxnLst/>
            <a:rect l="l" t="t" r="r" b="b"/>
            <a:pathLst>
              <a:path w="5691778" h="2286510">
                <a:moveTo>
                  <a:pt x="32664" y="0"/>
                </a:moveTo>
                <a:lnTo>
                  <a:pt x="5593778" y="0"/>
                </a:lnTo>
                <a:cubicBezTo>
                  <a:pt x="5647902" y="0"/>
                  <a:pt x="5691778" y="43876"/>
                  <a:pt x="5691778" y="98000"/>
                </a:cubicBezTo>
                <a:lnTo>
                  <a:pt x="5691778" y="2188511"/>
                </a:lnTo>
                <a:cubicBezTo>
                  <a:pt x="5691778" y="2242634"/>
                  <a:pt x="5647902" y="2286510"/>
                  <a:pt x="5593778" y="2286510"/>
                </a:cubicBezTo>
                <a:lnTo>
                  <a:pt x="32664" y="2286510"/>
                </a:lnTo>
                <a:cubicBezTo>
                  <a:pt x="14624" y="2286510"/>
                  <a:pt x="0" y="2271886"/>
                  <a:pt x="0" y="225384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2977" y="979933"/>
            <a:ext cx="32664" cy="2286510"/>
          </a:xfrm>
          <a:custGeom>
            <a:avLst/>
            <a:gdLst/>
            <a:ahLst/>
            <a:cxnLst/>
            <a:rect l="l" t="t" r="r" b="b"/>
            <a:pathLst>
              <a:path w="32664" h="2286510">
                <a:moveTo>
                  <a:pt x="32664" y="0"/>
                </a:moveTo>
                <a:lnTo>
                  <a:pt x="32664" y="0"/>
                </a:lnTo>
                <a:lnTo>
                  <a:pt x="32664" y="2286510"/>
                </a:lnTo>
                <a:lnTo>
                  <a:pt x="32664" y="2286510"/>
                </a:lnTo>
                <a:cubicBezTo>
                  <a:pt x="14624" y="2286510"/>
                  <a:pt x="0" y="2271886"/>
                  <a:pt x="0" y="225384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522631" y="1143255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481800" y="1143255"/>
            <a:ext cx="473634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5262" y="1143255"/>
            <a:ext cx="376457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Geographic Diversification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5262" y="1437235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</a:t>
            </a:r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85% revenue concentration in UK creates market risk.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5262" y="1706717"/>
            <a:ext cx="535773" cy="179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5262" y="1959866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Expand marketing in Germany, France, Netherlands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5262" y="2188517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Localize website and customer service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5262" y="2417168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Develop region-specific product offerings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5262" y="2645819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Target: Reduce UK dependency to 70% within 18 months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5262" y="2907135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Impact: +15% revenue growth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8937" y="979933"/>
            <a:ext cx="5691778" cy="2286510"/>
          </a:xfrm>
          <a:custGeom>
            <a:avLst/>
            <a:gdLst/>
            <a:ahLst/>
            <a:cxnLst/>
            <a:rect l="l" t="t" r="r" b="b"/>
            <a:pathLst>
              <a:path w="5691778" h="2286510">
                <a:moveTo>
                  <a:pt x="32664" y="0"/>
                </a:moveTo>
                <a:lnTo>
                  <a:pt x="5593778" y="0"/>
                </a:lnTo>
                <a:cubicBezTo>
                  <a:pt x="5647902" y="0"/>
                  <a:pt x="5691778" y="43876"/>
                  <a:pt x="5691778" y="98000"/>
                </a:cubicBezTo>
                <a:lnTo>
                  <a:pt x="5691778" y="2188511"/>
                </a:lnTo>
                <a:cubicBezTo>
                  <a:pt x="5691778" y="2242634"/>
                  <a:pt x="5647902" y="2286510"/>
                  <a:pt x="5593778" y="2286510"/>
                </a:cubicBezTo>
                <a:lnTo>
                  <a:pt x="32664" y="2286510"/>
                </a:lnTo>
                <a:cubicBezTo>
                  <a:pt x="14624" y="2286510"/>
                  <a:pt x="0" y="2271886"/>
                  <a:pt x="0" y="225384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8937" y="979933"/>
            <a:ext cx="32664" cy="2286510"/>
          </a:xfrm>
          <a:custGeom>
            <a:avLst/>
            <a:gdLst/>
            <a:ahLst/>
            <a:cxnLst/>
            <a:rect l="l" t="t" r="r" b="b"/>
            <a:pathLst>
              <a:path w="32664" h="2286510">
                <a:moveTo>
                  <a:pt x="32664" y="0"/>
                </a:moveTo>
                <a:lnTo>
                  <a:pt x="32664" y="0"/>
                </a:lnTo>
                <a:lnTo>
                  <a:pt x="32664" y="2286510"/>
                </a:lnTo>
                <a:lnTo>
                  <a:pt x="32664" y="2286510"/>
                </a:lnTo>
                <a:cubicBezTo>
                  <a:pt x="14624" y="2286510"/>
                  <a:pt x="0" y="2271886"/>
                  <a:pt x="0" y="225384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8591" y="1143255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9" name="Text 17"/>
          <p:cNvSpPr/>
          <p:nvPr/>
        </p:nvSpPr>
        <p:spPr>
          <a:xfrm>
            <a:off x="6317761" y="1143255"/>
            <a:ext cx="473634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81222" y="1143255"/>
            <a:ext cx="358492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VIP Customer Program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81222" y="1437235"/>
            <a:ext cx="356858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Champions + Loyal (32.6%) generate 72% of revenue.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81222" y="1706717"/>
            <a:ext cx="535773" cy="179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1222" y="1959866"/>
            <a:ext cx="356858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Launch exclusive loyalty program for top segments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81222" y="2188517"/>
            <a:ext cx="356858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Early access to new products and sales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81222" y="2417168"/>
            <a:ext cx="356858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Personalized recommendations and offers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1222" y="2645819"/>
            <a:ext cx="356858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Dedicated customer success manager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81222" y="2907135"/>
            <a:ext cx="356858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Impact: +10% retention, +20% CLV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2977" y="3397101"/>
            <a:ext cx="5691778" cy="2286510"/>
          </a:xfrm>
          <a:custGeom>
            <a:avLst/>
            <a:gdLst/>
            <a:ahLst/>
            <a:cxnLst/>
            <a:rect l="l" t="t" r="r" b="b"/>
            <a:pathLst>
              <a:path w="5691778" h="2286510">
                <a:moveTo>
                  <a:pt x="32664" y="0"/>
                </a:moveTo>
                <a:lnTo>
                  <a:pt x="5593778" y="0"/>
                </a:lnTo>
                <a:cubicBezTo>
                  <a:pt x="5647902" y="0"/>
                  <a:pt x="5691778" y="43876"/>
                  <a:pt x="5691778" y="98000"/>
                </a:cubicBezTo>
                <a:lnTo>
                  <a:pt x="5691778" y="2188511"/>
                </a:lnTo>
                <a:cubicBezTo>
                  <a:pt x="5691778" y="2242634"/>
                  <a:pt x="5647902" y="2286510"/>
                  <a:pt x="5593778" y="2286510"/>
                </a:cubicBezTo>
                <a:lnTo>
                  <a:pt x="32664" y="2286510"/>
                </a:lnTo>
                <a:cubicBezTo>
                  <a:pt x="14624" y="2286510"/>
                  <a:pt x="0" y="2271886"/>
                  <a:pt x="0" y="225384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77" y="3397101"/>
            <a:ext cx="32664" cy="2286510"/>
          </a:xfrm>
          <a:custGeom>
            <a:avLst/>
            <a:gdLst/>
            <a:ahLst/>
            <a:cxnLst/>
            <a:rect l="l" t="t" r="r" b="b"/>
            <a:pathLst>
              <a:path w="32664" h="2286510">
                <a:moveTo>
                  <a:pt x="32664" y="0"/>
                </a:moveTo>
                <a:lnTo>
                  <a:pt x="32664" y="0"/>
                </a:lnTo>
                <a:lnTo>
                  <a:pt x="32664" y="2286510"/>
                </a:lnTo>
                <a:lnTo>
                  <a:pt x="32664" y="2286510"/>
                </a:lnTo>
                <a:cubicBezTo>
                  <a:pt x="14624" y="2286510"/>
                  <a:pt x="0" y="2271886"/>
                  <a:pt x="0" y="225384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22631" y="3560423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00" y="3560423"/>
            <a:ext cx="473634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45262" y="3560423"/>
            <a:ext cx="375641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At-Risk Win-Back Campaign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45262" y="3854403"/>
            <a:ext cx="374007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Opportunity:</a:t>
            </a:r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824 At-Risk customers contribute 9.2% of revenue.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45262" y="4123885"/>
            <a:ext cx="535773" cy="179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45262" y="4377034"/>
            <a:ext cx="374007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Triggered email campaigns with personalized offers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45262" y="4605685"/>
            <a:ext cx="374007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Limited-time discounts based on purchase history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5262" y="4834336"/>
            <a:ext cx="374007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Survey to understand reasons for inactivity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45262" y="5062987"/>
            <a:ext cx="374007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Retargeting ads on social media platforms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45262" y="5324303"/>
            <a:ext cx="3740078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6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Impact: Recover 30-40% of at-risk revenue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8937" y="3397101"/>
            <a:ext cx="5691778" cy="2286510"/>
          </a:xfrm>
          <a:custGeom>
            <a:avLst/>
            <a:gdLst/>
            <a:ahLst/>
            <a:cxnLst/>
            <a:rect l="l" t="t" r="r" b="b"/>
            <a:pathLst>
              <a:path w="5691778" h="2286510">
                <a:moveTo>
                  <a:pt x="32664" y="0"/>
                </a:moveTo>
                <a:lnTo>
                  <a:pt x="5593778" y="0"/>
                </a:lnTo>
                <a:cubicBezTo>
                  <a:pt x="5647902" y="0"/>
                  <a:pt x="5691778" y="43876"/>
                  <a:pt x="5691778" y="98000"/>
                </a:cubicBezTo>
                <a:lnTo>
                  <a:pt x="5691778" y="2188511"/>
                </a:lnTo>
                <a:cubicBezTo>
                  <a:pt x="5691778" y="2242634"/>
                  <a:pt x="5647902" y="2286510"/>
                  <a:pt x="5593778" y="2286510"/>
                </a:cubicBezTo>
                <a:lnTo>
                  <a:pt x="32664" y="2286510"/>
                </a:lnTo>
                <a:cubicBezTo>
                  <a:pt x="14624" y="2286510"/>
                  <a:pt x="0" y="2271886"/>
                  <a:pt x="0" y="225384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4498" dist="8166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8937" y="3397101"/>
            <a:ext cx="32664" cy="2286510"/>
          </a:xfrm>
          <a:custGeom>
            <a:avLst/>
            <a:gdLst/>
            <a:ahLst/>
            <a:cxnLst/>
            <a:rect l="l" t="t" r="r" b="b"/>
            <a:pathLst>
              <a:path w="32664" h="2286510">
                <a:moveTo>
                  <a:pt x="32664" y="0"/>
                </a:moveTo>
                <a:lnTo>
                  <a:pt x="32664" y="0"/>
                </a:lnTo>
                <a:lnTo>
                  <a:pt x="32664" y="2286510"/>
                </a:lnTo>
                <a:lnTo>
                  <a:pt x="32664" y="2286510"/>
                </a:lnTo>
                <a:cubicBezTo>
                  <a:pt x="14624" y="2286510"/>
                  <a:pt x="0" y="2271886"/>
                  <a:pt x="0" y="225384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Shape 40"/>
          <p:cNvSpPr/>
          <p:nvPr/>
        </p:nvSpPr>
        <p:spPr>
          <a:xfrm>
            <a:off x="6358591" y="3560423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97993" y="0"/>
                </a:moveTo>
                <a:lnTo>
                  <a:pt x="293980" y="0"/>
                </a:lnTo>
                <a:cubicBezTo>
                  <a:pt x="348064" y="0"/>
                  <a:pt x="391973" y="43909"/>
                  <a:pt x="391973" y="97993"/>
                </a:cubicBezTo>
                <a:lnTo>
                  <a:pt x="391973" y="293980"/>
                </a:lnTo>
                <a:cubicBezTo>
                  <a:pt x="391973" y="348064"/>
                  <a:pt x="348064" y="391973"/>
                  <a:pt x="293980" y="391973"/>
                </a:cubicBezTo>
                <a:lnTo>
                  <a:pt x="97993" y="391973"/>
                </a:lnTo>
                <a:cubicBezTo>
                  <a:pt x="43909" y="391973"/>
                  <a:pt x="0" y="348064"/>
                  <a:pt x="0" y="293980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3" name="Text 41"/>
          <p:cNvSpPr/>
          <p:nvPr/>
        </p:nvSpPr>
        <p:spPr>
          <a:xfrm>
            <a:off x="6317761" y="3560423"/>
            <a:ext cx="473634" cy="39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81222" y="3560423"/>
            <a:ext cx="376457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Seasonal Optimization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81222" y="3854403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Pattern:</a:t>
            </a:r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Q4 shows 35% higher revenue; classic retail seasonality.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81222" y="4123885"/>
            <a:ext cx="535773" cy="179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81222" y="4377034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Increase inventory 40% ahead of Q4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81222" y="4605685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Launch holiday marketing campaigns in October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81222" y="4834336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Bundle products for gift-giving occasions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81222" y="5062987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6E6E7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Offer extended return window for holiday purchases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81222" y="5324303"/>
            <a:ext cx="374824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Impact: +25% Q4 revenue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6644" y="5814269"/>
            <a:ext cx="11538711" cy="718618"/>
          </a:xfrm>
          <a:custGeom>
            <a:avLst/>
            <a:gdLst/>
            <a:ahLst/>
            <a:cxnLst/>
            <a:rect l="l" t="t" r="r" b="b"/>
            <a:pathLst>
              <a:path w="11538711" h="718618">
                <a:moveTo>
                  <a:pt x="97991" y="0"/>
                </a:moveTo>
                <a:lnTo>
                  <a:pt x="11440721" y="0"/>
                </a:lnTo>
                <a:cubicBezTo>
                  <a:pt x="11494839" y="0"/>
                  <a:pt x="11538711" y="43872"/>
                  <a:pt x="11538711" y="97991"/>
                </a:cubicBezTo>
                <a:lnTo>
                  <a:pt x="11538711" y="620627"/>
                </a:lnTo>
                <a:cubicBezTo>
                  <a:pt x="11538711" y="674746"/>
                  <a:pt x="11494839" y="718618"/>
                  <a:pt x="11440721" y="718618"/>
                </a:cubicBezTo>
                <a:lnTo>
                  <a:pt x="97991" y="718618"/>
                </a:lnTo>
                <a:cubicBezTo>
                  <a:pt x="43908" y="718618"/>
                  <a:pt x="0" y="674709"/>
                  <a:pt x="0" y="620627"/>
                </a:cubicBezTo>
                <a:lnTo>
                  <a:pt x="0" y="97991"/>
                </a:lnTo>
                <a:cubicBezTo>
                  <a:pt x="0" y="43908"/>
                  <a:pt x="43908" y="0"/>
                  <a:pt x="9799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53" name="Shape 51"/>
          <p:cNvSpPr/>
          <p:nvPr/>
        </p:nvSpPr>
        <p:spPr>
          <a:xfrm>
            <a:off x="489967" y="6051086"/>
            <a:ext cx="244983" cy="244983"/>
          </a:xfrm>
          <a:custGeom>
            <a:avLst/>
            <a:gdLst/>
            <a:ahLst/>
            <a:cxnLst/>
            <a:rect l="l" t="t" r="r" b="b"/>
            <a:pathLst>
              <a:path w="244983" h="244983">
                <a:moveTo>
                  <a:pt x="61246" y="153115"/>
                </a:moveTo>
                <a:lnTo>
                  <a:pt x="11723" y="153115"/>
                </a:lnTo>
                <a:cubicBezTo>
                  <a:pt x="-191" y="153115"/>
                  <a:pt x="-7512" y="140148"/>
                  <a:pt x="-1388" y="129908"/>
                </a:cubicBezTo>
                <a:lnTo>
                  <a:pt x="23924" y="87706"/>
                </a:lnTo>
                <a:cubicBezTo>
                  <a:pt x="28087" y="80768"/>
                  <a:pt x="35551" y="76557"/>
                  <a:pt x="43638" y="76557"/>
                </a:cubicBezTo>
                <a:lnTo>
                  <a:pt x="89094" y="76557"/>
                </a:lnTo>
                <a:cubicBezTo>
                  <a:pt x="125506" y="14881"/>
                  <a:pt x="179814" y="11771"/>
                  <a:pt x="216131" y="17082"/>
                </a:cubicBezTo>
                <a:cubicBezTo>
                  <a:pt x="222255" y="17991"/>
                  <a:pt x="227040" y="22776"/>
                  <a:pt x="227901" y="28853"/>
                </a:cubicBezTo>
                <a:cubicBezTo>
                  <a:pt x="233213" y="65169"/>
                  <a:pt x="230102" y="119477"/>
                  <a:pt x="168426" y="155890"/>
                </a:cubicBezTo>
                <a:lnTo>
                  <a:pt x="168426" y="201346"/>
                </a:lnTo>
                <a:cubicBezTo>
                  <a:pt x="168426" y="209432"/>
                  <a:pt x="164215" y="216896"/>
                  <a:pt x="157277" y="221059"/>
                </a:cubicBezTo>
                <a:lnTo>
                  <a:pt x="115075" y="246371"/>
                </a:lnTo>
                <a:cubicBezTo>
                  <a:pt x="104883" y="252495"/>
                  <a:pt x="91869" y="245127"/>
                  <a:pt x="91869" y="233260"/>
                </a:cubicBezTo>
                <a:lnTo>
                  <a:pt x="91869" y="183737"/>
                </a:lnTo>
                <a:cubicBezTo>
                  <a:pt x="91869" y="166847"/>
                  <a:pt x="78136" y="153115"/>
                  <a:pt x="61246" y="153115"/>
                </a:cubicBezTo>
                <a:lnTo>
                  <a:pt x="61198" y="153115"/>
                </a:lnTo>
                <a:close/>
                <a:moveTo>
                  <a:pt x="191393" y="76557"/>
                </a:moveTo>
                <a:cubicBezTo>
                  <a:pt x="191393" y="63881"/>
                  <a:pt x="181102" y="53590"/>
                  <a:pt x="168426" y="53590"/>
                </a:cubicBezTo>
                <a:cubicBezTo>
                  <a:pt x="155750" y="53590"/>
                  <a:pt x="145459" y="63881"/>
                  <a:pt x="145459" y="76557"/>
                </a:cubicBezTo>
                <a:cubicBezTo>
                  <a:pt x="145459" y="89233"/>
                  <a:pt x="155750" y="99524"/>
                  <a:pt x="168426" y="99524"/>
                </a:cubicBezTo>
                <a:cubicBezTo>
                  <a:pt x="181102" y="99524"/>
                  <a:pt x="191393" y="89233"/>
                  <a:pt x="191393" y="765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894189" y="5961259"/>
            <a:ext cx="709634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Priority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94189" y="6189910"/>
            <a:ext cx="708818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with VIP Program (immediate impact) → At-Risk Campaign (quick wins) → Geographic Expansion (long-term growth)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323875" y="5944927"/>
            <a:ext cx="141273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Revenue Impact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258546" y="6108249"/>
            <a:ext cx="1478066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9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+35-50%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7deba09d4a6086cf0c16428372538ba6168140f8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524" r="152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D1D1F">
                  <a:alpha val="90000"/>
                </a:srgbClr>
              </a:gs>
              <a:gs pos="50000">
                <a:srgbClr val="1D1D1F">
                  <a:alpha val="80000"/>
                </a:srgbClr>
              </a:gs>
              <a:gs pos="100000">
                <a:srgbClr val="0071E3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5F5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5763" y="1262063"/>
            <a:ext cx="5629275" cy="1476375"/>
          </a:xfrm>
          <a:custGeom>
            <a:avLst/>
            <a:gdLst/>
            <a:ahLst/>
            <a:cxnLst/>
            <a:rect l="l" t="t" r="r" b="b"/>
            <a:pathLst>
              <a:path w="5629275" h="147637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1362074"/>
                </a:lnTo>
                <a:cubicBezTo>
                  <a:pt x="5629275" y="1425201"/>
                  <a:pt x="5578101" y="1476375"/>
                  <a:pt x="551497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29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8" name="Text 5"/>
          <p:cNvSpPr/>
          <p:nvPr/>
        </p:nvSpPr>
        <p:spPr>
          <a:xfrm>
            <a:off x="495300" y="14192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525" y="14192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 Concentration Risk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52525" y="1762125"/>
            <a:ext cx="4781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UK dominance (85.2% revenue) presents both strength and vulnerability. Diversification into EU markets is critical for long-term stability.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6963" y="1262063"/>
            <a:ext cx="5629275" cy="1476375"/>
          </a:xfrm>
          <a:custGeom>
            <a:avLst/>
            <a:gdLst/>
            <a:ahLst/>
            <a:cxnLst/>
            <a:rect l="l" t="t" r="r" b="b"/>
            <a:pathLst>
              <a:path w="5629275" h="147637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1362074"/>
                </a:lnTo>
                <a:cubicBezTo>
                  <a:pt x="5629275" y="1425201"/>
                  <a:pt x="5578101" y="1476375"/>
                  <a:pt x="551497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341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0" y="14192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43725" y="14192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Customer Value Concentration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43725" y="1762125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33% of customers drive 87% of revenue. RFM segmentation identifies clear tiers for targeted retention and growth strategies.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5763" y="2900363"/>
            <a:ext cx="5629275" cy="1476375"/>
          </a:xfrm>
          <a:custGeom>
            <a:avLst/>
            <a:gdLst/>
            <a:ahLst/>
            <a:cxnLst/>
            <a:rect l="l" t="t" r="r" b="b"/>
            <a:pathLst>
              <a:path w="5629275" h="147637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1362074"/>
                </a:lnTo>
                <a:cubicBezTo>
                  <a:pt x="5629275" y="1425201"/>
                  <a:pt x="5578101" y="1476375"/>
                  <a:pt x="551497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2925" y="3057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5"/>
          <p:cNvSpPr/>
          <p:nvPr/>
        </p:nvSpPr>
        <p:spPr>
          <a:xfrm>
            <a:off x="495300" y="30575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52525" y="30575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Seasonal Revenue Patterns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52525" y="3400425"/>
            <a:ext cx="4781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Q4 seasonality (+35%) requires proactive inventory and marketing planning. Holiday-focused product strategy can maximize peak periods.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76963" y="2900363"/>
            <a:ext cx="5629275" cy="1476375"/>
          </a:xfrm>
          <a:custGeom>
            <a:avLst/>
            <a:gdLst/>
            <a:ahLst/>
            <a:cxnLst/>
            <a:rect l="l" t="t" r="r" b="b"/>
            <a:pathLst>
              <a:path w="5629275" h="1476375">
                <a:moveTo>
                  <a:pt x="114301" y="0"/>
                </a:moveTo>
                <a:lnTo>
                  <a:pt x="5514974" y="0"/>
                </a:lnTo>
                <a:cubicBezTo>
                  <a:pt x="5578101" y="0"/>
                  <a:pt x="5629275" y="51174"/>
                  <a:pt x="5629275" y="114301"/>
                </a:cubicBezTo>
                <a:lnTo>
                  <a:pt x="5629275" y="1362074"/>
                </a:lnTo>
                <a:cubicBezTo>
                  <a:pt x="5629275" y="1425201"/>
                  <a:pt x="5578101" y="1476375"/>
                  <a:pt x="551497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34125" y="3057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Text 20"/>
          <p:cNvSpPr/>
          <p:nvPr/>
        </p:nvSpPr>
        <p:spPr>
          <a:xfrm>
            <a:off x="6286500" y="30575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43725" y="30575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Retention Opportunity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43725" y="3400425"/>
            <a:ext cx="4781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55-65% customer drop-off after first purchase highlights critical engagement window. Early-stage nurturing can significantly improve lifetime value.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85763" y="4538663"/>
            <a:ext cx="11420475" cy="1247775"/>
          </a:xfrm>
          <a:custGeom>
            <a:avLst/>
            <a:gdLst/>
            <a:ahLst/>
            <a:cxnLst/>
            <a:rect l="l" t="t" r="r" b="b"/>
            <a:pathLst>
              <a:path w="11420475" h="1247775">
                <a:moveTo>
                  <a:pt x="114296" y="0"/>
                </a:moveTo>
                <a:lnTo>
                  <a:pt x="11306179" y="0"/>
                </a:lnTo>
                <a:cubicBezTo>
                  <a:pt x="11369303" y="0"/>
                  <a:pt x="11420475" y="51172"/>
                  <a:pt x="11420475" y="114296"/>
                </a:cubicBezTo>
                <a:lnTo>
                  <a:pt x="11420475" y="1133479"/>
                </a:lnTo>
                <a:cubicBezTo>
                  <a:pt x="11420475" y="1196603"/>
                  <a:pt x="11369303" y="1247775"/>
                  <a:pt x="11306179" y="1247775"/>
                </a:cubicBezTo>
                <a:lnTo>
                  <a:pt x="114296" y="1247775"/>
                </a:lnTo>
                <a:cubicBezTo>
                  <a:pt x="51172" y="1247775"/>
                  <a:pt x="0" y="1196603"/>
                  <a:pt x="0" y="11334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2925" y="4695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Text 25"/>
          <p:cNvSpPr/>
          <p:nvPr/>
        </p:nvSpPr>
        <p:spPr>
          <a:xfrm>
            <a:off x="495300" y="469582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52525" y="4695825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F5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Return Management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52525" y="5038725"/>
            <a:ext cx="1057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F5F7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return rate (2.15%) but significant revenue impact (7.28%) suggests opportunity for improvement. Understanding return drivers can recover substantial value.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81000" y="594360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Revenue Analyzed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81000" y="6172200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£21.0M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089100" y="594360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Analyzed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089100" y="6172200"/>
            <a:ext cx="132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5,878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607445" y="59436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Markets Covered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607445" y="6172200"/>
            <a:ext cx="112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168086" y="5981700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5F5F7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Period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149036" y="617220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F5F5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 2009 - Dec 2011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Retail Sales Analysis</dc:title>
  <dc:subject>Online Retail Sales Analysis</dc:subject>
  <dc:creator>Kimi</dc:creator>
  <cp:lastModifiedBy>Kimi</cp:lastModifiedBy>
  <cp:revision>1</cp:revision>
  <dcterms:created xsi:type="dcterms:W3CDTF">2026-03-01T08:09:14Z</dcterms:created>
  <dcterms:modified xsi:type="dcterms:W3CDTF">2026-03-01T08:09:14Z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{"Label":"Online Retail Sales Analysis","ContentProducer":"001191110108MACG2KBH8F10000","ProduceID":"19ca86e0-4b62-8a44-8000-000026011855","ReservedCode1":"","ContentPropagator":"001191110108MACG2KBH8F20000","PropagateID":"19ca86e0-4b62-8a44-8000-000026011855","ReservedCode2":""}</vt:lpwstr>
  </property>
</Properties>
</file>